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63" r:id="rId3"/>
    <p:sldId id="329" r:id="rId4"/>
    <p:sldId id="264" r:id="rId5"/>
    <p:sldId id="267" r:id="rId6"/>
    <p:sldId id="265" r:id="rId7"/>
    <p:sldId id="268" r:id="rId8"/>
    <p:sldId id="326" r:id="rId9"/>
    <p:sldId id="272" r:id="rId10"/>
    <p:sldId id="325" r:id="rId11"/>
    <p:sldId id="269" r:id="rId12"/>
  </p:sldIdLst>
  <p:sldSz cx="18288000" cy="10287000"/>
  <p:notesSz cx="6858000" cy="9144000"/>
  <p:embeddedFontLst>
    <p:embeddedFont>
      <p:font typeface="Roboto" panose="02000000000000000000" pitchFamily="2"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00" autoAdjust="0"/>
    <p:restoredTop sz="94622" autoAdjust="0"/>
  </p:normalViewPr>
  <p:slideViewPr>
    <p:cSldViewPr>
      <p:cViewPr>
        <p:scale>
          <a:sx n="66" d="100"/>
          <a:sy n="66" d="100"/>
        </p:scale>
        <p:origin x="864" y="2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2BDE68-4404-44E6-BF91-DD5CF752F1A7}" type="datetimeFigureOut">
              <a:rPr lang="en-US" smtClean="0"/>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33379B-B6D9-47B3-9433-9C495FC18319}" type="slidenum">
              <a:rPr lang="en-US" smtClean="0"/>
              <a:t>‹#›</a:t>
            </a:fld>
            <a:endParaRPr lang="en-US"/>
          </a:p>
        </p:txBody>
      </p:sp>
    </p:spTree>
    <p:extLst>
      <p:ext uri="{BB962C8B-B14F-4D97-AF65-F5344CB8AC3E}">
        <p14:creationId xmlns:p14="http://schemas.microsoft.com/office/powerpoint/2010/main" val="4096613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33379B-B6D9-47B3-9433-9C495FC18319}" type="slidenum">
              <a:rPr lang="en-US" smtClean="0"/>
              <a:t>11</a:t>
            </a:fld>
            <a:endParaRPr lang="en-US"/>
          </a:p>
        </p:txBody>
      </p:sp>
    </p:spTree>
    <p:extLst>
      <p:ext uri="{BB962C8B-B14F-4D97-AF65-F5344CB8AC3E}">
        <p14:creationId xmlns:p14="http://schemas.microsoft.com/office/powerpoint/2010/main" val="32058226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Roboto" panose="02000000000000000000" pitchFamily="2" charset="0"/>
              </a:defRPr>
            </a:lvl1pPr>
          </a:lstStyle>
          <a:p>
            <a:fld id="{1D8BD707-D9CF-40AE-B4C6-C98DA3205C09}" type="datetimeFigureOut">
              <a:rPr lang="en-US" smtClean="0"/>
              <a:pPr/>
              <a:t>11/23/2025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Roboto" panose="02000000000000000000" pitchFamily="2"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Roboto" panose="02000000000000000000" pitchFamily="2"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Roboto" panose="02000000000000000000" pitchFamily="2"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Roboto" panose="02000000000000000000" pitchFamily="2"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Roboto" panose="02000000000000000000" pitchFamily="2"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Roboto" panose="02000000000000000000" pitchFamily="2"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Roboto" panose="02000000000000000000" pitchFamily="2"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Roboto" panose="02000000000000000000"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9296399" y="2402779"/>
            <a:ext cx="8002788" cy="4020268"/>
          </a:xfrm>
          <a:prstGeom prst="rect">
            <a:avLst/>
          </a:prstGeom>
        </p:spPr>
        <p:txBody>
          <a:bodyPr wrap="square" lIns="0" tIns="0" rIns="0" bIns="0" rtlCol="0" anchor="t">
            <a:spAutoFit/>
          </a:bodyPr>
          <a:lstStyle/>
          <a:p>
            <a:pPr marL="0" lvl="0" indent="0">
              <a:lnSpc>
                <a:spcPts val="10800"/>
              </a:lnSpc>
            </a:pPr>
            <a:r>
              <a:rPr lang="en-US" sz="10800" b="1">
                <a:solidFill>
                  <a:srgbClr val="1F1F1F"/>
                </a:solidFill>
                <a:latin typeface="Roboto" panose="02000000000000000000" pitchFamily="2" charset="0"/>
                <a:ea typeface="Roboto" panose="02000000000000000000" pitchFamily="2" charset="0"/>
                <a:cs typeface="Roboto" panose="02000000000000000000" pitchFamily="2" charset="0"/>
                <a:sym typeface="Raleway"/>
              </a:rPr>
              <a:t>++AI</a:t>
            </a:r>
          </a:p>
          <a:p>
            <a:pPr marL="0" lvl="0" indent="0" algn="ctr">
              <a:lnSpc>
                <a:spcPts val="10800"/>
              </a:lnSpc>
            </a:pPr>
            <a:r>
              <a:rPr lang="en-US" sz="8000">
                <a:solidFill>
                  <a:srgbClr val="1F1F1F"/>
                </a:solidFill>
                <a:latin typeface="Roboto" panose="02000000000000000000" pitchFamily="2" charset="0"/>
                <a:ea typeface="Roboto" panose="02000000000000000000" pitchFamily="2" charset="0"/>
                <a:cs typeface="Roboto" panose="02000000000000000000" pitchFamily="2" charset="0"/>
                <a:sym typeface="Raleway"/>
              </a:rPr>
              <a:t>trong</a:t>
            </a:r>
          </a:p>
          <a:p>
            <a:pPr algn="r">
              <a:lnSpc>
                <a:spcPts val="10800"/>
              </a:lnSpc>
            </a:pPr>
            <a:r>
              <a:rPr lang="en-US" sz="6600">
                <a:solidFill>
                  <a:srgbClr val="1F1F1F"/>
                </a:solidFill>
                <a:latin typeface="Roboto" panose="02000000000000000000" pitchFamily="2" charset="0"/>
                <a:ea typeface="Roboto" panose="02000000000000000000" pitchFamily="2" charset="0"/>
                <a:cs typeface="Roboto" panose="02000000000000000000" pitchFamily="2" charset="0"/>
                <a:sym typeface="Raleway"/>
              </a:rPr>
              <a:t>Performance Testing</a:t>
            </a:r>
          </a:p>
        </p:txBody>
      </p:sp>
      <p:sp>
        <p:nvSpPr>
          <p:cNvPr id="5" name="TextBox 5"/>
          <p:cNvSpPr txBox="1"/>
          <p:nvPr/>
        </p:nvSpPr>
        <p:spPr>
          <a:xfrm>
            <a:off x="9296400" y="9014989"/>
            <a:ext cx="6886575" cy="319511"/>
          </a:xfrm>
          <a:prstGeom prst="rect">
            <a:avLst/>
          </a:prstGeom>
        </p:spPr>
        <p:txBody>
          <a:bodyPr lIns="0" tIns="0" rIns="0" bIns="0" rtlCol="0" anchor="t">
            <a:spAutoFit/>
          </a:bodyPr>
          <a:lstStyle/>
          <a:p>
            <a:pPr lvl="0">
              <a:lnSpc>
                <a:spcPts val="2729"/>
              </a:lnSpc>
            </a:pPr>
            <a:r>
              <a:rPr lang="en-US" sz="1950">
                <a:solidFill>
                  <a:srgbClr val="1F1F1F"/>
                </a:solidFill>
                <a:latin typeface="Roboto" panose="02000000000000000000" pitchFamily="2" charset="0"/>
                <a:ea typeface="Roboto" panose="02000000000000000000" pitchFamily="2" charset="0"/>
                <a:cs typeface="Roboto" panose="02000000000000000000" pitchFamily="2" charset="0"/>
                <a:sym typeface="Raleway"/>
              </a:rPr>
              <a:t>Hà </a:t>
            </a:r>
            <a:r>
              <a:rPr lang="en-US" sz="1950" err="1">
                <a:solidFill>
                  <a:srgbClr val="1F1F1F"/>
                </a:solidFill>
                <a:latin typeface="Roboto" panose="02000000000000000000" pitchFamily="2" charset="0"/>
                <a:ea typeface="Roboto" panose="02000000000000000000" pitchFamily="2" charset="0"/>
                <a:cs typeface="Roboto" panose="02000000000000000000" pitchFamily="2" charset="0"/>
                <a:sym typeface="Raleway"/>
              </a:rPr>
              <a:t>Nội</a:t>
            </a:r>
            <a:r>
              <a:rPr lang="en-US" sz="1950">
                <a:solidFill>
                  <a:srgbClr val="1F1F1F"/>
                </a:solidFill>
                <a:latin typeface="Roboto" panose="02000000000000000000" pitchFamily="2" charset="0"/>
                <a:ea typeface="Roboto" panose="02000000000000000000" pitchFamily="2" charset="0"/>
                <a:cs typeface="Roboto" panose="02000000000000000000" pitchFamily="2" charset="0"/>
                <a:sym typeface="Raleway"/>
              </a:rPr>
              <a:t>, 28-29 </a:t>
            </a:r>
            <a:r>
              <a:rPr lang="en-US" sz="1950" err="1">
                <a:solidFill>
                  <a:srgbClr val="1F1F1F"/>
                </a:solidFill>
                <a:latin typeface="Roboto" panose="02000000000000000000" pitchFamily="2" charset="0"/>
                <a:ea typeface="Roboto" panose="02000000000000000000" pitchFamily="2" charset="0"/>
                <a:cs typeface="Roboto" panose="02000000000000000000" pitchFamily="2" charset="0"/>
                <a:sym typeface="Raleway"/>
              </a:rPr>
              <a:t>tháng</a:t>
            </a:r>
            <a:r>
              <a:rPr lang="en-US" sz="1950">
                <a:solidFill>
                  <a:srgbClr val="1F1F1F"/>
                </a:solidFill>
                <a:latin typeface="Roboto" panose="02000000000000000000" pitchFamily="2" charset="0"/>
                <a:ea typeface="Roboto" panose="02000000000000000000" pitchFamily="2" charset="0"/>
                <a:cs typeface="Roboto" panose="02000000000000000000" pitchFamily="2" charset="0"/>
                <a:sym typeface="Raleway"/>
              </a:rPr>
              <a:t> 11 </a:t>
            </a:r>
            <a:r>
              <a:rPr lang="en-US" sz="1950" err="1">
                <a:solidFill>
                  <a:srgbClr val="1F1F1F"/>
                </a:solidFill>
                <a:latin typeface="Roboto" panose="02000000000000000000" pitchFamily="2" charset="0"/>
                <a:ea typeface="Roboto" panose="02000000000000000000" pitchFamily="2" charset="0"/>
                <a:cs typeface="Roboto" panose="02000000000000000000" pitchFamily="2" charset="0"/>
                <a:sym typeface="Raleway"/>
              </a:rPr>
              <a:t>năm</a:t>
            </a:r>
            <a:r>
              <a:rPr lang="en-US" sz="1950">
                <a:solidFill>
                  <a:srgbClr val="1F1F1F"/>
                </a:solidFill>
                <a:latin typeface="Roboto" panose="02000000000000000000" pitchFamily="2" charset="0"/>
                <a:ea typeface="Roboto" panose="02000000000000000000" pitchFamily="2" charset="0"/>
                <a:cs typeface="Roboto" panose="02000000000000000000" pitchFamily="2" charset="0"/>
                <a:sym typeface="Raleway"/>
              </a:rPr>
              <a:t> 2025</a:t>
            </a:r>
          </a:p>
        </p:txBody>
      </p:sp>
      <p:pic>
        <p:nvPicPr>
          <p:cNvPr id="16" name="Picture 15">
            <a:extLst>
              <a:ext uri="{FF2B5EF4-FFF2-40B4-BE49-F238E27FC236}">
                <a16:creationId xmlns:a16="http://schemas.microsoft.com/office/drawing/2014/main" id="{82634899-7699-7537-622D-7227E01996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813" y="696018"/>
            <a:ext cx="6547247" cy="8714682"/>
          </a:xfrm>
          <a:prstGeom prst="rect">
            <a:avLst/>
          </a:prstGeom>
        </p:spPr>
      </p:pic>
      <p:pic>
        <p:nvPicPr>
          <p:cNvPr id="12" name="Picture 11">
            <a:extLst>
              <a:ext uri="{FF2B5EF4-FFF2-40B4-BE49-F238E27FC236}">
                <a16:creationId xmlns:a16="http://schemas.microsoft.com/office/drawing/2014/main" id="{B35B3BAE-7539-F9A6-3F2F-072012091E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40025" y="952500"/>
            <a:ext cx="1485900" cy="416964"/>
          </a:xfrm>
          <a:prstGeom prst="rect">
            <a:avLst/>
          </a:prstGeom>
        </p:spPr>
      </p:pic>
      <p:sp>
        <p:nvSpPr>
          <p:cNvPr id="17" name="TextBox 4">
            <a:extLst>
              <a:ext uri="{FF2B5EF4-FFF2-40B4-BE49-F238E27FC236}">
                <a16:creationId xmlns:a16="http://schemas.microsoft.com/office/drawing/2014/main" id="{7FCDCD71-918E-6366-9B19-1C125FCFC869}"/>
              </a:ext>
            </a:extLst>
          </p:cNvPr>
          <p:cNvSpPr txBox="1"/>
          <p:nvPr/>
        </p:nvSpPr>
        <p:spPr>
          <a:xfrm>
            <a:off x="9296400" y="8317759"/>
            <a:ext cx="8324850" cy="507206"/>
          </a:xfrm>
          <a:prstGeom prst="rect">
            <a:avLst/>
          </a:prstGeom>
        </p:spPr>
        <p:txBody>
          <a:bodyPr lIns="0" tIns="0" rIns="0" bIns="0" rtlCol="0" anchor="t">
            <a:spAutoFit/>
          </a:bodyPr>
          <a:lstStyle/>
          <a:p>
            <a:pPr marL="0" lvl="0" indent="0" algn="l">
              <a:lnSpc>
                <a:spcPts val="4200"/>
              </a:lnSpc>
            </a:pPr>
            <a:r>
              <a:rPr lang="en-US" sz="3000" err="1">
                <a:solidFill>
                  <a:srgbClr val="3182CE"/>
                </a:solidFill>
                <a:latin typeface="Roboto" panose="02000000000000000000" pitchFamily="2" charset="0"/>
                <a:ea typeface="Roboto" panose="02000000000000000000" pitchFamily="2" charset="0"/>
                <a:cs typeface="Roboto" panose="02000000000000000000" pitchFamily="2" charset="0"/>
                <a:sym typeface="Raleway"/>
              </a:rPr>
              <a:t>iPMAC</a:t>
            </a:r>
            <a:endParaRPr lang="en-US" sz="3000">
              <a:solidFill>
                <a:srgbClr val="3182CE"/>
              </a:solidFill>
              <a:latin typeface="Roboto" panose="02000000000000000000" pitchFamily="2" charset="0"/>
              <a:ea typeface="Roboto" panose="02000000000000000000" pitchFamily="2" charset="0"/>
              <a:cs typeface="Roboto" panose="02000000000000000000" pitchFamily="2" charset="0"/>
              <a:sym typeface="Ralew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6750" y="742950"/>
            <a:ext cx="12820650" cy="1182953"/>
          </a:xfrm>
          <a:prstGeom prst="rect">
            <a:avLst/>
          </a:prstGeom>
        </p:spPr>
        <p:txBody>
          <a:bodyPr wrap="square" lIns="0" tIns="0" rIns="0" bIns="0" rtlCol="0" anchor="t">
            <a:spAutoFit/>
          </a:bodyPr>
          <a:lstStyle/>
          <a:p>
            <a:pPr marL="0" lvl="0" indent="0" algn="l">
              <a:lnSpc>
                <a:spcPts val="9900"/>
              </a:lnSpc>
            </a:pPr>
            <a:r>
              <a:rPr lang="en-US" sz="7200">
                <a:solidFill>
                  <a:srgbClr val="1F1F1F"/>
                </a:solidFill>
                <a:latin typeface="Roboto" panose="02000000000000000000" pitchFamily="2" charset="0"/>
                <a:ea typeface="Roboto" panose="02000000000000000000" pitchFamily="2" charset="0"/>
                <a:cs typeface="Roboto" panose="02000000000000000000" pitchFamily="2" charset="0"/>
                <a:sym typeface="Raleway"/>
              </a:rPr>
              <a:t>Giới thiệu chung về Perf Test</a:t>
            </a:r>
          </a:p>
        </p:txBody>
      </p:sp>
      <p:sp>
        <p:nvSpPr>
          <p:cNvPr id="9" name="TextBox 9"/>
          <p:cNvSpPr txBox="1"/>
          <p:nvPr/>
        </p:nvSpPr>
        <p:spPr>
          <a:xfrm>
            <a:off x="17378619" y="9412274"/>
            <a:ext cx="144270" cy="333425"/>
          </a:xfrm>
          <a:prstGeom prst="rect">
            <a:avLst/>
          </a:prstGeom>
        </p:spPr>
        <p:txBody>
          <a:bodyPr wrap="none" lIns="0" tIns="0" rIns="0" bIns="0" rtlCol="0" anchor="t">
            <a:spAutoFit/>
          </a:bodyPr>
          <a:lstStyle/>
          <a:p>
            <a:pPr algn="r">
              <a:lnSpc>
                <a:spcPts val="2800"/>
              </a:lnSpc>
              <a:spcBef>
                <a:spcPct val="0"/>
              </a:spcBef>
            </a:pPr>
            <a:r>
              <a:rPr lang="en-US" sz="2000">
                <a:solidFill>
                  <a:srgbClr val="1F1F1F"/>
                </a:solidFill>
                <a:latin typeface="Roboto" panose="02000000000000000000" pitchFamily="2" charset="0"/>
                <a:ea typeface="Roboto" panose="02000000000000000000" pitchFamily="2" charset="0"/>
                <a:cs typeface="Roboto" panose="02000000000000000000" pitchFamily="2" charset="0"/>
                <a:sym typeface="Raleway"/>
              </a:rPr>
              <a:t>2</a:t>
            </a:r>
          </a:p>
        </p:txBody>
      </p:sp>
      <p:sp>
        <p:nvSpPr>
          <p:cNvPr id="10" name="AutoShape 10"/>
          <p:cNvSpPr/>
          <p:nvPr/>
        </p:nvSpPr>
        <p:spPr>
          <a:xfrm>
            <a:off x="1431704" y="9610725"/>
            <a:ext cx="15624461" cy="0"/>
          </a:xfrm>
          <a:prstGeom prst="line">
            <a:avLst/>
          </a:prstGeom>
          <a:ln w="19050" cap="flat">
            <a:solidFill>
              <a:srgbClr val="1F1F1F"/>
            </a:solidFill>
            <a:prstDash val="solid"/>
            <a:headEnd type="none" w="sm" len="sm"/>
            <a:tailEnd type="none" w="sm" len="sm"/>
          </a:ln>
        </p:spPr>
      </p:sp>
      <p:sp>
        <p:nvSpPr>
          <p:cNvPr id="11" name="Freeform 11"/>
          <p:cNvSpPr/>
          <p:nvPr/>
        </p:nvSpPr>
        <p:spPr>
          <a:xfrm>
            <a:off x="671512" y="9387884"/>
            <a:ext cx="445682" cy="445682"/>
          </a:xfrm>
          <a:custGeom>
            <a:avLst/>
            <a:gdLst/>
            <a:ahLst/>
            <a:cxnLst/>
            <a:rect l="l" t="t" r="r" b="b"/>
            <a:pathLst>
              <a:path w="445682" h="445682">
                <a:moveTo>
                  <a:pt x="0" y="0"/>
                </a:moveTo>
                <a:lnTo>
                  <a:pt x="445683" y="0"/>
                </a:lnTo>
                <a:lnTo>
                  <a:pt x="445683" y="445682"/>
                </a:lnTo>
                <a:lnTo>
                  <a:pt x="0" y="4456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1026" name="Picture 2" descr="Diagram showing the different load testing types and load volumes and durations for each test. ">
            <a:extLst>
              <a:ext uri="{FF2B5EF4-FFF2-40B4-BE49-F238E27FC236}">
                <a16:creationId xmlns:a16="http://schemas.microsoft.com/office/drawing/2014/main" id="{E9D89820-0FE2-A280-BEBC-F41190B53A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750" y="2552700"/>
            <a:ext cx="11921058" cy="335279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9D4A5FE-B5FA-DEF8-21AB-878509DE6FF8}"/>
              </a:ext>
            </a:extLst>
          </p:cNvPr>
          <p:cNvSpPr txBox="1"/>
          <p:nvPr/>
        </p:nvSpPr>
        <p:spPr>
          <a:xfrm>
            <a:off x="1117194" y="6420428"/>
            <a:ext cx="9703206" cy="2137765"/>
          </a:xfrm>
          <a:prstGeom prst="rect">
            <a:avLst/>
          </a:prstGeom>
          <a:noFill/>
        </p:spPr>
        <p:txBody>
          <a:bodyPr wrap="square">
            <a:spAutoFit/>
          </a:bodyPr>
          <a:lstStyle/>
          <a:p>
            <a:pPr>
              <a:lnSpc>
                <a:spcPct val="125000"/>
              </a:lnSpc>
              <a:buNone/>
            </a:pPr>
            <a:r>
              <a:rPr lang="vi-VN" sz="2800" b="1">
                <a:latin typeface="Roboto" panose="02000000000000000000" pitchFamily="2" charset="0"/>
                <a:ea typeface="Roboto" panose="02000000000000000000" pitchFamily="2" charset="0"/>
                <a:cs typeface="Roboto" panose="02000000000000000000" pitchFamily="2" charset="0"/>
              </a:rPr>
              <a:t>Tổng quan về Performance Testing</a:t>
            </a:r>
            <a:endParaRPr lang="vi-VN" sz="2800">
              <a:latin typeface="Roboto" panose="02000000000000000000" pitchFamily="2" charset="0"/>
              <a:ea typeface="Roboto" panose="02000000000000000000" pitchFamily="2" charset="0"/>
              <a:cs typeface="Roboto" panose="02000000000000000000" pitchFamily="2" charset="0"/>
            </a:endParaRPr>
          </a:p>
          <a:p>
            <a:pPr>
              <a:lnSpc>
                <a:spcPct val="125000"/>
              </a:lnSpc>
              <a:buNone/>
            </a:pPr>
            <a:r>
              <a:rPr lang="vi-VN" sz="2000">
                <a:latin typeface="Roboto" panose="02000000000000000000" pitchFamily="2" charset="0"/>
                <a:ea typeface="Roboto" panose="02000000000000000000" pitchFamily="2" charset="0"/>
                <a:cs typeface="Roboto" panose="02000000000000000000" pitchFamily="2" charset="0"/>
              </a:rPr>
              <a:t>Performance Testing là quá trình đánh giá khả năng chịu tải, tốc độ phản hồi, độ ổn định và khả năng mở rộng của một hệ thống khi hoạt động trong các điều kiện khác nhau. Mục tiêu chính là đảm bảo hệ thống đáp ứng tốt nhu cầu thực tế của người dùng và không gặp sự cố khi lưu lượng tăng cao.</a:t>
            </a:r>
          </a:p>
        </p:txBody>
      </p:sp>
      <p:sp>
        <p:nvSpPr>
          <p:cNvPr id="7" name="Rectangle 4">
            <a:extLst>
              <a:ext uri="{FF2B5EF4-FFF2-40B4-BE49-F238E27FC236}">
                <a16:creationId xmlns:a16="http://schemas.microsoft.com/office/drawing/2014/main" id="{C383E222-4533-62C0-F299-DBABD7394DEB}"/>
              </a:ext>
            </a:extLst>
          </p:cNvPr>
          <p:cNvSpPr>
            <a:spLocks noChangeArrowheads="1"/>
          </p:cNvSpPr>
          <p:nvPr/>
        </p:nvSpPr>
        <p:spPr bwMode="auto">
          <a:xfrm>
            <a:off x="12423026" y="2045832"/>
            <a:ext cx="5033443" cy="3291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lnSpc>
                <a:spcPct val="125000"/>
              </a:lnSpc>
              <a:spcBef>
                <a:spcPct val="0"/>
              </a:spcBef>
              <a:spcAft>
                <a:spcPct val="0"/>
              </a:spcAft>
            </a:pPr>
            <a:r>
              <a:rPr lang="en-US" altLang="en-US" sz="2800" b="1">
                <a:latin typeface="Roboto" panose="02000000000000000000" pitchFamily="2" charset="0"/>
                <a:ea typeface="Roboto" panose="02000000000000000000" pitchFamily="2" charset="0"/>
                <a:cs typeface="Roboto" panose="02000000000000000000" pitchFamily="2" charset="0"/>
              </a:rPr>
              <a:t>Keywords</a:t>
            </a:r>
          </a:p>
          <a:p>
            <a:pPr marL="285750" lvl="0" indent="-285750" eaLnBrk="0" fontAlgn="base" hangingPunct="0">
              <a:lnSpc>
                <a:spcPct val="125000"/>
              </a:lnSpc>
              <a:spcBef>
                <a:spcPct val="0"/>
              </a:spcBef>
              <a:spcAft>
                <a:spcPct val="0"/>
              </a:spcAft>
              <a:buFont typeface="Wingdings" panose="05000000000000000000" pitchFamily="2" charset="2"/>
              <a:buChar char="Ø"/>
            </a:pPr>
            <a:r>
              <a:rPr lang="en-US" altLang="en-US" sz="2000">
                <a:latin typeface="Roboto" panose="02000000000000000000" pitchFamily="2" charset="0"/>
                <a:ea typeface="Roboto" panose="02000000000000000000" pitchFamily="2" charset="0"/>
                <a:cs typeface="Roboto" panose="02000000000000000000" pitchFamily="2" charset="0"/>
              </a:rPr>
              <a:t>Response Time (ms)</a:t>
            </a:r>
          </a:p>
          <a:p>
            <a:pPr marL="285750" lvl="0" indent="-285750" eaLnBrk="0" fontAlgn="base" hangingPunct="0">
              <a:lnSpc>
                <a:spcPct val="125000"/>
              </a:lnSpc>
              <a:spcBef>
                <a:spcPct val="0"/>
              </a:spcBef>
              <a:spcAft>
                <a:spcPct val="0"/>
              </a:spcAft>
              <a:buFont typeface="Wingdings" panose="05000000000000000000" pitchFamily="2" charset="2"/>
              <a:buChar char="Ø"/>
            </a:pPr>
            <a:r>
              <a:rPr lang="en-US" altLang="en-US" sz="2000">
                <a:latin typeface="Roboto" panose="02000000000000000000" pitchFamily="2" charset="0"/>
                <a:ea typeface="Roboto" panose="02000000000000000000" pitchFamily="2" charset="0"/>
                <a:cs typeface="Roboto" panose="02000000000000000000" pitchFamily="2" charset="0"/>
              </a:rPr>
              <a:t>Throughput (requests per second - RPS)</a:t>
            </a:r>
          </a:p>
          <a:p>
            <a:pPr marL="285750" lvl="0" indent="-285750" eaLnBrk="0" fontAlgn="base" hangingPunct="0">
              <a:lnSpc>
                <a:spcPct val="125000"/>
              </a:lnSpc>
              <a:spcBef>
                <a:spcPct val="0"/>
              </a:spcBef>
              <a:spcAft>
                <a:spcPct val="0"/>
              </a:spcAft>
              <a:buFont typeface="Wingdings" panose="05000000000000000000" pitchFamily="2" charset="2"/>
              <a:buChar char="Ø"/>
            </a:pPr>
            <a:r>
              <a:rPr lang="en-US" altLang="en-US" sz="2000">
                <a:latin typeface="Roboto" panose="02000000000000000000" pitchFamily="2" charset="0"/>
                <a:ea typeface="Roboto" panose="02000000000000000000" pitchFamily="2" charset="0"/>
                <a:cs typeface="Roboto" panose="02000000000000000000" pitchFamily="2" charset="0"/>
              </a:rPr>
              <a:t>Concurrent Users</a:t>
            </a:r>
          </a:p>
          <a:p>
            <a:pPr marL="285750" lvl="0" indent="-285750" eaLnBrk="0" fontAlgn="base" hangingPunct="0">
              <a:lnSpc>
                <a:spcPct val="125000"/>
              </a:lnSpc>
              <a:spcBef>
                <a:spcPct val="0"/>
              </a:spcBef>
              <a:spcAft>
                <a:spcPct val="0"/>
              </a:spcAft>
              <a:buFont typeface="Wingdings" panose="05000000000000000000" pitchFamily="2" charset="2"/>
              <a:buChar char="Ø"/>
            </a:pPr>
            <a:r>
              <a:rPr lang="en-US" altLang="en-US" sz="2000">
                <a:latin typeface="Roboto" panose="02000000000000000000" pitchFamily="2" charset="0"/>
                <a:ea typeface="Roboto" panose="02000000000000000000" pitchFamily="2" charset="0"/>
                <a:cs typeface="Roboto" panose="02000000000000000000" pitchFamily="2" charset="0"/>
              </a:rPr>
              <a:t>CPU / RAM / Disk / Network Usage</a:t>
            </a:r>
          </a:p>
          <a:p>
            <a:pPr marL="285750" lvl="0" indent="-285750" eaLnBrk="0" fontAlgn="base" hangingPunct="0">
              <a:lnSpc>
                <a:spcPct val="125000"/>
              </a:lnSpc>
              <a:spcBef>
                <a:spcPct val="0"/>
              </a:spcBef>
              <a:spcAft>
                <a:spcPct val="0"/>
              </a:spcAft>
              <a:buFont typeface="Wingdings" panose="05000000000000000000" pitchFamily="2" charset="2"/>
              <a:buChar char="Ø"/>
            </a:pPr>
            <a:r>
              <a:rPr lang="en-US" altLang="en-US" sz="2000">
                <a:latin typeface="Roboto" panose="02000000000000000000" pitchFamily="2" charset="0"/>
                <a:ea typeface="Roboto" panose="02000000000000000000" pitchFamily="2" charset="0"/>
                <a:cs typeface="Roboto" panose="02000000000000000000" pitchFamily="2" charset="0"/>
              </a:rPr>
              <a:t>Error Rate</a:t>
            </a:r>
          </a:p>
          <a:p>
            <a:pPr marL="285750" lvl="0" indent="-285750" eaLnBrk="0" fontAlgn="base" hangingPunct="0">
              <a:lnSpc>
                <a:spcPct val="125000"/>
              </a:lnSpc>
              <a:spcBef>
                <a:spcPct val="0"/>
              </a:spcBef>
              <a:spcAft>
                <a:spcPct val="0"/>
              </a:spcAft>
              <a:buFont typeface="Wingdings" panose="05000000000000000000" pitchFamily="2" charset="2"/>
              <a:buChar char="Ø"/>
            </a:pPr>
            <a:r>
              <a:rPr lang="en-US" altLang="en-US" sz="2000">
                <a:latin typeface="Roboto" panose="02000000000000000000" pitchFamily="2" charset="0"/>
                <a:ea typeface="Roboto" panose="02000000000000000000" pitchFamily="2" charset="0"/>
                <a:cs typeface="Roboto" panose="02000000000000000000" pitchFamily="2" charset="0"/>
              </a:rPr>
              <a:t>Latency Percentiles (p50, p90, p95, p99...)</a:t>
            </a:r>
          </a:p>
        </p:txBody>
      </p:sp>
      <p:grpSp>
        <p:nvGrpSpPr>
          <p:cNvPr id="17" name="Group 16">
            <a:extLst>
              <a:ext uri="{FF2B5EF4-FFF2-40B4-BE49-F238E27FC236}">
                <a16:creationId xmlns:a16="http://schemas.microsoft.com/office/drawing/2014/main" id="{F05AC7A8-D5CD-653B-B22D-880985D952CD}"/>
              </a:ext>
            </a:extLst>
          </p:cNvPr>
          <p:cNvGrpSpPr/>
          <p:nvPr/>
        </p:nvGrpSpPr>
        <p:grpSpPr>
          <a:xfrm>
            <a:off x="11644742" y="6317836"/>
            <a:ext cx="5338334" cy="1784098"/>
            <a:chOff x="11644742" y="6317836"/>
            <a:chExt cx="5338334" cy="1784098"/>
          </a:xfrm>
        </p:grpSpPr>
        <p:sp>
          <p:nvSpPr>
            <p:cNvPr id="15" name="Rectangle 4">
              <a:extLst>
                <a:ext uri="{FF2B5EF4-FFF2-40B4-BE49-F238E27FC236}">
                  <a16:creationId xmlns:a16="http://schemas.microsoft.com/office/drawing/2014/main" id="{7DE85D4F-DF9D-D93E-1BD7-05D0A6D8601C}"/>
                </a:ext>
              </a:extLst>
            </p:cNvPr>
            <p:cNvSpPr>
              <a:spLocks noChangeArrowheads="1"/>
            </p:cNvSpPr>
            <p:nvPr/>
          </p:nvSpPr>
          <p:spPr bwMode="auto">
            <a:xfrm>
              <a:off x="11918504" y="6317836"/>
              <a:ext cx="4790811" cy="666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lnSpc>
                  <a:spcPct val="150000"/>
                </a:lnSpc>
                <a:spcBef>
                  <a:spcPct val="0"/>
                </a:spcBef>
                <a:spcAft>
                  <a:spcPct val="0"/>
                </a:spcAft>
              </a:pPr>
              <a:r>
                <a:rPr lang="en-US" altLang="en-US" sz="2800" b="1">
                  <a:latin typeface="Roboto" panose="02000000000000000000" pitchFamily="2" charset="0"/>
                  <a:ea typeface="Roboto" panose="02000000000000000000" pitchFamily="2" charset="0"/>
                  <a:cs typeface="Roboto" panose="02000000000000000000" pitchFamily="2" charset="0"/>
                </a:rPr>
                <a:t>Tools</a:t>
              </a:r>
            </a:p>
          </p:txBody>
        </p:sp>
        <p:grpSp>
          <p:nvGrpSpPr>
            <p:cNvPr id="16" name="Group 15">
              <a:extLst>
                <a:ext uri="{FF2B5EF4-FFF2-40B4-BE49-F238E27FC236}">
                  <a16:creationId xmlns:a16="http://schemas.microsoft.com/office/drawing/2014/main" id="{22BECF1E-CD0F-A3A3-49AE-4B71AB835323}"/>
                </a:ext>
              </a:extLst>
            </p:cNvPr>
            <p:cNvGrpSpPr/>
            <p:nvPr/>
          </p:nvGrpSpPr>
          <p:grpSpPr>
            <a:xfrm>
              <a:off x="11644742" y="7058348"/>
              <a:ext cx="5338334" cy="1043586"/>
              <a:chOff x="11644742" y="7058348"/>
              <a:chExt cx="5338334" cy="1043586"/>
            </a:xfrm>
          </p:grpSpPr>
          <p:pic>
            <p:nvPicPr>
              <p:cNvPr id="1030" name="Picture 6" descr="Index of /images">
                <a:extLst>
                  <a:ext uri="{FF2B5EF4-FFF2-40B4-BE49-F238E27FC236}">
                    <a16:creationId xmlns:a16="http://schemas.microsoft.com/office/drawing/2014/main" id="{96FDAA74-5484-AB3E-140D-863C967F77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44742" y="7310747"/>
                <a:ext cx="2328862" cy="79118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ocust Cloud | LinkedIn">
                <a:extLst>
                  <a:ext uri="{FF2B5EF4-FFF2-40B4-BE49-F238E27FC236}">
                    <a16:creationId xmlns:a16="http://schemas.microsoft.com/office/drawing/2014/main" id="{F0104539-74CB-692A-80E5-3504DAE9EBE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713" t="18245" r="2857" b="19900"/>
              <a:stretch>
                <a:fillRect/>
              </a:stretch>
            </p:blipFill>
            <p:spPr bwMode="auto">
              <a:xfrm>
                <a:off x="14330148" y="7277102"/>
                <a:ext cx="1219200" cy="82483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3470BC98-EE89-8839-DE20-842AA8D15FE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905892" y="7058348"/>
                <a:ext cx="1077184" cy="1043586"/>
              </a:xfrm>
              <a:prstGeom prst="rect">
                <a:avLst/>
              </a:prstGeom>
              <a:noFill/>
              <a:extLst>
                <a:ext uri="{909E8E84-426E-40DD-AFC4-6F175D3DCCD1}">
                  <a14:hiddenFill xmlns:a14="http://schemas.microsoft.com/office/drawing/2010/main">
                    <a:solidFill>
                      <a:srgbClr val="FFFFFF"/>
                    </a:solidFill>
                  </a14:hiddenFill>
                </a:ext>
              </a:extLst>
            </p:spPr>
          </p:pic>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36D10-6B37-B7C0-F747-0FB4422F179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98199A1-D60C-DF0E-10D1-8CAB5FE2D13E}"/>
              </a:ext>
            </a:extLst>
          </p:cNvPr>
          <p:cNvSpPr txBox="1"/>
          <p:nvPr/>
        </p:nvSpPr>
        <p:spPr>
          <a:xfrm>
            <a:off x="666750" y="742950"/>
            <a:ext cx="12820650" cy="1182953"/>
          </a:xfrm>
          <a:prstGeom prst="rect">
            <a:avLst/>
          </a:prstGeom>
        </p:spPr>
        <p:txBody>
          <a:bodyPr wrap="square" lIns="0" tIns="0" rIns="0" bIns="0" rtlCol="0" anchor="t">
            <a:spAutoFit/>
          </a:bodyPr>
          <a:lstStyle/>
          <a:p>
            <a:pPr marL="0" lvl="0" indent="0" algn="l">
              <a:lnSpc>
                <a:spcPts val="9900"/>
              </a:lnSpc>
            </a:pPr>
            <a:r>
              <a:rPr lang="en-US" sz="7200">
                <a:solidFill>
                  <a:srgbClr val="1F1F1F"/>
                </a:solidFill>
                <a:latin typeface="Roboto" panose="02000000000000000000" pitchFamily="2" charset="0"/>
                <a:ea typeface="Roboto" panose="02000000000000000000" pitchFamily="2" charset="0"/>
                <a:cs typeface="Roboto" panose="02000000000000000000" pitchFamily="2" charset="0"/>
                <a:sym typeface="Raleway"/>
              </a:rPr>
              <a:t>Đọc biểu đồ Perf Test</a:t>
            </a:r>
          </a:p>
        </p:txBody>
      </p:sp>
      <p:sp>
        <p:nvSpPr>
          <p:cNvPr id="9" name="TextBox 9">
            <a:extLst>
              <a:ext uri="{FF2B5EF4-FFF2-40B4-BE49-F238E27FC236}">
                <a16:creationId xmlns:a16="http://schemas.microsoft.com/office/drawing/2014/main" id="{E0450D7E-7BCD-69C1-7354-4A7EF91D5EDC}"/>
              </a:ext>
            </a:extLst>
          </p:cNvPr>
          <p:cNvSpPr txBox="1"/>
          <p:nvPr/>
        </p:nvSpPr>
        <p:spPr>
          <a:xfrm>
            <a:off x="17378619" y="9412274"/>
            <a:ext cx="144270" cy="333425"/>
          </a:xfrm>
          <a:prstGeom prst="rect">
            <a:avLst/>
          </a:prstGeom>
        </p:spPr>
        <p:txBody>
          <a:bodyPr wrap="none" lIns="0" tIns="0" rIns="0" bIns="0" rtlCol="0" anchor="t">
            <a:spAutoFit/>
          </a:bodyPr>
          <a:lstStyle/>
          <a:p>
            <a:pPr algn="r">
              <a:lnSpc>
                <a:spcPts val="2800"/>
              </a:lnSpc>
              <a:spcBef>
                <a:spcPct val="0"/>
              </a:spcBef>
            </a:pPr>
            <a:r>
              <a:rPr lang="en-US" sz="2000">
                <a:solidFill>
                  <a:srgbClr val="1F1F1F"/>
                </a:solidFill>
                <a:latin typeface="Roboto" panose="02000000000000000000" pitchFamily="2" charset="0"/>
                <a:ea typeface="Roboto" panose="02000000000000000000" pitchFamily="2" charset="0"/>
                <a:cs typeface="Roboto" panose="02000000000000000000" pitchFamily="2" charset="0"/>
                <a:sym typeface="Raleway"/>
              </a:rPr>
              <a:t>3</a:t>
            </a:r>
          </a:p>
        </p:txBody>
      </p:sp>
      <p:sp>
        <p:nvSpPr>
          <p:cNvPr id="10" name="AutoShape 10">
            <a:extLst>
              <a:ext uri="{FF2B5EF4-FFF2-40B4-BE49-F238E27FC236}">
                <a16:creationId xmlns:a16="http://schemas.microsoft.com/office/drawing/2014/main" id="{D70E5C10-6C55-6E18-D13B-65635107334B}"/>
              </a:ext>
            </a:extLst>
          </p:cNvPr>
          <p:cNvSpPr/>
          <p:nvPr/>
        </p:nvSpPr>
        <p:spPr>
          <a:xfrm>
            <a:off x="1431704" y="9610725"/>
            <a:ext cx="15624461" cy="0"/>
          </a:xfrm>
          <a:prstGeom prst="line">
            <a:avLst/>
          </a:prstGeom>
          <a:ln w="19050" cap="flat">
            <a:solidFill>
              <a:srgbClr val="1F1F1F"/>
            </a:solidFill>
            <a:prstDash val="solid"/>
            <a:headEnd type="none" w="sm" len="sm"/>
            <a:tailEnd type="none" w="sm" len="sm"/>
          </a:ln>
        </p:spPr>
      </p:sp>
      <p:sp>
        <p:nvSpPr>
          <p:cNvPr id="11" name="Freeform 11">
            <a:extLst>
              <a:ext uri="{FF2B5EF4-FFF2-40B4-BE49-F238E27FC236}">
                <a16:creationId xmlns:a16="http://schemas.microsoft.com/office/drawing/2014/main" id="{0277804D-DA64-B250-57B4-2B59D744404C}"/>
              </a:ext>
            </a:extLst>
          </p:cNvPr>
          <p:cNvSpPr/>
          <p:nvPr/>
        </p:nvSpPr>
        <p:spPr>
          <a:xfrm>
            <a:off x="671512" y="9387884"/>
            <a:ext cx="445682" cy="445682"/>
          </a:xfrm>
          <a:custGeom>
            <a:avLst/>
            <a:gdLst/>
            <a:ahLst/>
            <a:cxnLst/>
            <a:rect l="l" t="t" r="r" b="b"/>
            <a:pathLst>
              <a:path w="445682" h="445682">
                <a:moveTo>
                  <a:pt x="0" y="0"/>
                </a:moveTo>
                <a:lnTo>
                  <a:pt x="445683" y="0"/>
                </a:lnTo>
                <a:lnTo>
                  <a:pt x="445683" y="445682"/>
                </a:lnTo>
                <a:lnTo>
                  <a:pt x="0" y="4456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2050" name="Picture 2">
            <a:extLst>
              <a:ext uri="{FF2B5EF4-FFF2-40B4-BE49-F238E27FC236}">
                <a16:creationId xmlns:a16="http://schemas.microsoft.com/office/drawing/2014/main" id="{006C1402-BC3F-572F-0213-504CA90AFC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6174" y="2171700"/>
            <a:ext cx="14135653" cy="6858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7847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31704" y="9610725"/>
            <a:ext cx="15624461" cy="0"/>
          </a:xfrm>
          <a:prstGeom prst="line">
            <a:avLst/>
          </a:prstGeom>
          <a:ln w="19050" cap="flat">
            <a:solidFill>
              <a:srgbClr val="1F1F1F"/>
            </a:solidFill>
            <a:prstDash val="solid"/>
            <a:headEnd type="none" w="sm" len="sm"/>
            <a:tailEnd type="none" w="sm" len="sm"/>
          </a:ln>
        </p:spPr>
      </p:sp>
      <p:sp>
        <p:nvSpPr>
          <p:cNvPr id="3" name="Freeform 3"/>
          <p:cNvSpPr/>
          <p:nvPr/>
        </p:nvSpPr>
        <p:spPr>
          <a:xfrm>
            <a:off x="671512" y="9387884"/>
            <a:ext cx="445682" cy="445682"/>
          </a:xfrm>
          <a:custGeom>
            <a:avLst/>
            <a:gdLst/>
            <a:ahLst/>
            <a:cxnLst/>
            <a:rect l="l" t="t" r="r" b="b"/>
            <a:pathLst>
              <a:path w="445682" h="445682">
                <a:moveTo>
                  <a:pt x="0" y="0"/>
                </a:moveTo>
                <a:lnTo>
                  <a:pt x="445683" y="0"/>
                </a:lnTo>
                <a:lnTo>
                  <a:pt x="445683" y="445682"/>
                </a:lnTo>
                <a:lnTo>
                  <a:pt x="0" y="4456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2">
            <a:extLst>
              <a:ext uri="{FF2B5EF4-FFF2-40B4-BE49-F238E27FC236}">
                <a16:creationId xmlns:a16="http://schemas.microsoft.com/office/drawing/2014/main" id="{164A2BAD-FBC7-F48A-F0ED-088034AE5381}"/>
              </a:ext>
            </a:extLst>
          </p:cNvPr>
          <p:cNvSpPr txBox="1"/>
          <p:nvPr/>
        </p:nvSpPr>
        <p:spPr>
          <a:xfrm>
            <a:off x="666750" y="742950"/>
            <a:ext cx="11201400" cy="1182953"/>
          </a:xfrm>
          <a:prstGeom prst="rect">
            <a:avLst/>
          </a:prstGeom>
        </p:spPr>
        <p:txBody>
          <a:bodyPr lIns="0" tIns="0" rIns="0" bIns="0" rtlCol="0" anchor="t">
            <a:spAutoFit/>
          </a:bodyPr>
          <a:lstStyle/>
          <a:p>
            <a:pPr lvl="0">
              <a:lnSpc>
                <a:spcPts val="9900"/>
              </a:lnSpc>
            </a:pPr>
            <a:r>
              <a:rPr lang="en-US" sz="7200">
                <a:solidFill>
                  <a:srgbClr val="1F1F1F"/>
                </a:solidFill>
                <a:latin typeface="Roboto" panose="02000000000000000000" pitchFamily="2" charset="0"/>
                <a:ea typeface="Roboto" panose="02000000000000000000" pitchFamily="2" charset="0"/>
                <a:cs typeface="Roboto" panose="02000000000000000000" pitchFamily="2" charset="0"/>
                <a:sym typeface="Raleway"/>
              </a:rPr>
              <a:t>Thiết kế kịch bản Perf Test</a:t>
            </a:r>
          </a:p>
        </p:txBody>
      </p:sp>
      <p:sp>
        <p:nvSpPr>
          <p:cNvPr id="19" name="TextBox 10">
            <a:extLst>
              <a:ext uri="{FF2B5EF4-FFF2-40B4-BE49-F238E27FC236}">
                <a16:creationId xmlns:a16="http://schemas.microsoft.com/office/drawing/2014/main" id="{79AC3A31-0524-2361-0CD5-DFD91EFD1543}"/>
              </a:ext>
            </a:extLst>
          </p:cNvPr>
          <p:cNvSpPr txBox="1"/>
          <p:nvPr/>
        </p:nvSpPr>
        <p:spPr>
          <a:xfrm>
            <a:off x="17367510" y="9412274"/>
            <a:ext cx="144270" cy="333425"/>
          </a:xfrm>
          <a:prstGeom prst="rect">
            <a:avLst/>
          </a:prstGeom>
        </p:spPr>
        <p:txBody>
          <a:bodyPr wrap="none" lIns="0" tIns="0" rIns="0" bIns="0" rtlCol="0" anchor="t">
            <a:spAutoFit/>
          </a:bodyPr>
          <a:lstStyle/>
          <a:p>
            <a:pPr algn="r">
              <a:lnSpc>
                <a:spcPts val="2800"/>
              </a:lnSpc>
              <a:spcBef>
                <a:spcPct val="0"/>
              </a:spcBef>
            </a:pPr>
            <a:r>
              <a:rPr lang="en-US" sz="2000">
                <a:solidFill>
                  <a:srgbClr val="1F1F1F"/>
                </a:solidFill>
                <a:latin typeface="Roboto" panose="02000000000000000000" pitchFamily="2" charset="0"/>
                <a:ea typeface="Roboto" panose="02000000000000000000" pitchFamily="2" charset="0"/>
                <a:cs typeface="Roboto" panose="02000000000000000000" pitchFamily="2" charset="0"/>
                <a:sym typeface="Raleway"/>
              </a:rPr>
              <a:t>4</a:t>
            </a:r>
          </a:p>
        </p:txBody>
      </p:sp>
      <p:sp>
        <p:nvSpPr>
          <p:cNvPr id="5" name="TextBox 4">
            <a:extLst>
              <a:ext uri="{FF2B5EF4-FFF2-40B4-BE49-F238E27FC236}">
                <a16:creationId xmlns:a16="http://schemas.microsoft.com/office/drawing/2014/main" id="{EEE6F123-2847-73FA-4F43-5B0F97F02413}"/>
              </a:ext>
            </a:extLst>
          </p:cNvPr>
          <p:cNvSpPr txBox="1"/>
          <p:nvPr/>
        </p:nvSpPr>
        <p:spPr>
          <a:xfrm>
            <a:off x="1295400" y="2379073"/>
            <a:ext cx="8915400" cy="6555641"/>
          </a:xfrm>
          <a:prstGeom prst="rect">
            <a:avLst/>
          </a:prstGeom>
          <a:noFill/>
        </p:spPr>
        <p:txBody>
          <a:bodyPr wrap="square">
            <a:spAutoFit/>
          </a:bodyPr>
          <a:lstStyle/>
          <a:p>
            <a:pPr marL="342900" indent="-342900">
              <a:buAutoNum type="arabicPeriod"/>
            </a:pPr>
            <a:r>
              <a:rPr lang="vi-VN" sz="2000">
                <a:latin typeface="Roboto" panose="02000000000000000000" pitchFamily="2" charset="0"/>
                <a:ea typeface="Roboto" panose="02000000000000000000" pitchFamily="2" charset="0"/>
                <a:cs typeface="Roboto" panose="02000000000000000000" pitchFamily="2" charset="0"/>
              </a:rPr>
              <a:t>Xác định loại performance test phù hợp</a:t>
            </a:r>
            <a:r>
              <a:rPr lang="en-US" sz="2000">
                <a:latin typeface="Roboto" panose="02000000000000000000" pitchFamily="2" charset="0"/>
                <a:ea typeface="Roboto" panose="02000000000000000000" pitchFamily="2" charset="0"/>
                <a:cs typeface="Roboto" panose="02000000000000000000" pitchFamily="2" charset="0"/>
              </a:rPr>
              <a:t>: xem phân loại ở slide trước</a:t>
            </a:r>
          </a:p>
          <a:p>
            <a:pPr marL="342900" indent="-342900">
              <a:buAutoNum type="arabicPeriod"/>
            </a:pPr>
            <a:r>
              <a:rPr lang="vi-VN" sz="2000">
                <a:latin typeface="Roboto" panose="02000000000000000000" pitchFamily="2" charset="0"/>
                <a:ea typeface="Roboto" panose="02000000000000000000" pitchFamily="2" charset="0"/>
                <a:cs typeface="Roboto" panose="02000000000000000000" pitchFamily="2" charset="0"/>
              </a:rPr>
              <a:t>Thu thập yêu cầu tải và mô hình người d</a:t>
            </a:r>
            <a:r>
              <a:rPr lang="en-US" sz="2000">
                <a:latin typeface="Roboto" panose="02000000000000000000" pitchFamily="2" charset="0"/>
                <a:ea typeface="Roboto" panose="02000000000000000000" pitchFamily="2" charset="0"/>
                <a:cs typeface="Roboto" panose="02000000000000000000" pitchFamily="2" charset="0"/>
              </a:rPr>
              <a:t>ù</a:t>
            </a:r>
            <a:r>
              <a:rPr lang="vi-VN" sz="2000">
                <a:latin typeface="Roboto" panose="02000000000000000000" pitchFamily="2" charset="0"/>
                <a:ea typeface="Roboto" panose="02000000000000000000" pitchFamily="2" charset="0"/>
                <a:cs typeface="Roboto" panose="02000000000000000000" pitchFamily="2" charset="0"/>
              </a:rPr>
              <a:t>ng</a:t>
            </a:r>
            <a:r>
              <a:rPr lang="en-US" sz="2000">
                <a:latin typeface="Roboto" panose="02000000000000000000" pitchFamily="2" charset="0"/>
                <a:ea typeface="Roboto" panose="02000000000000000000" pitchFamily="2" charset="0"/>
                <a:cs typeface="Roboto" panose="02000000000000000000" pitchFamily="2" charset="0"/>
              </a:rPr>
              <a:t>: Thông qua kinh nghiệm hoặc sampling... đưa ra được các con số mong muốn:</a:t>
            </a:r>
          </a:p>
          <a:p>
            <a:pPr marL="800100" lvl="1" indent="-342900">
              <a:buFont typeface="Wingdings" panose="05000000000000000000" pitchFamily="2" charset="2"/>
              <a:buChar char="§"/>
            </a:pPr>
            <a:r>
              <a:rPr lang="vi-VN" sz="2000">
                <a:latin typeface="Roboto" panose="02000000000000000000" pitchFamily="2" charset="0"/>
                <a:ea typeface="Roboto" panose="02000000000000000000" pitchFamily="2" charset="0"/>
                <a:cs typeface="Roboto" panose="02000000000000000000" pitchFamily="2" charset="0"/>
              </a:rPr>
              <a:t>Số người dùng đồng thời</a:t>
            </a:r>
            <a:r>
              <a:rPr lang="en-US" sz="2000">
                <a:latin typeface="Roboto" panose="02000000000000000000" pitchFamily="2" charset="0"/>
                <a:ea typeface="Roboto" panose="02000000000000000000" pitchFamily="2" charset="0"/>
                <a:cs typeface="Roboto" panose="02000000000000000000" pitchFamily="2" charset="0"/>
              </a:rPr>
              <a:t> (Concurrent users).</a:t>
            </a:r>
          </a:p>
          <a:p>
            <a:pPr marL="800100" lvl="1" indent="-342900">
              <a:buFont typeface="Wingdings" panose="05000000000000000000" pitchFamily="2" charset="2"/>
              <a:buChar char="§"/>
            </a:pPr>
            <a:r>
              <a:rPr lang="en-US" sz="2000">
                <a:latin typeface="Roboto" panose="02000000000000000000" pitchFamily="2" charset="0"/>
                <a:ea typeface="Roboto" panose="02000000000000000000" pitchFamily="2" charset="0"/>
                <a:cs typeface="Roboto" panose="02000000000000000000" pitchFamily="2" charset="0"/>
              </a:rPr>
              <a:t>Tần suất thực hiện yêu cầu (RPS).</a:t>
            </a:r>
          </a:p>
          <a:p>
            <a:pPr marL="800100" lvl="1" indent="-342900">
              <a:buFont typeface="Wingdings" panose="05000000000000000000" pitchFamily="2" charset="2"/>
              <a:buChar char="§"/>
            </a:pPr>
            <a:r>
              <a:rPr lang="en-US" sz="2000">
                <a:latin typeface="Roboto" panose="02000000000000000000" pitchFamily="2" charset="0"/>
                <a:ea typeface="Roboto" panose="02000000000000000000" pitchFamily="2" charset="0"/>
                <a:cs typeface="Roboto" panose="02000000000000000000" pitchFamily="2" charset="0"/>
              </a:rPr>
              <a:t>Tỉ lệ phân bổ API, hoặc thứ tự luồng API.</a:t>
            </a:r>
          </a:p>
          <a:p>
            <a:pPr marL="800100" lvl="1" indent="-342900">
              <a:buFont typeface="Wingdings" panose="05000000000000000000" pitchFamily="2" charset="2"/>
              <a:buChar char="§"/>
            </a:pPr>
            <a:r>
              <a:rPr lang="en-US" sz="2000">
                <a:latin typeface="Roboto" panose="02000000000000000000" pitchFamily="2" charset="0"/>
                <a:ea typeface="Roboto" panose="02000000000000000000" pitchFamily="2" charset="0"/>
                <a:cs typeface="Roboto" panose="02000000000000000000" pitchFamily="2" charset="0"/>
              </a:rPr>
              <a:t>Hình dạng của đường biểu đồ theo thời gian: Bao nhiêu user, ramp-up/ramp-down lên/xuống bao nhiêu trong bao lâu, bao nhiêu step...</a:t>
            </a:r>
          </a:p>
          <a:p>
            <a:pPr marL="457200" indent="-457200">
              <a:buFont typeface="+mj-lt"/>
              <a:buAutoNum type="arabicPeriod"/>
            </a:pPr>
            <a:r>
              <a:rPr lang="en-US" sz="2000">
                <a:latin typeface="Roboto" panose="02000000000000000000" pitchFamily="2" charset="0"/>
                <a:ea typeface="Roboto" panose="02000000000000000000" pitchFamily="2" charset="0"/>
                <a:cs typeface="Roboto" panose="02000000000000000000" pitchFamily="2" charset="0"/>
              </a:rPr>
              <a:t>Xác định các metrics bao gồm:</a:t>
            </a:r>
          </a:p>
          <a:p>
            <a:pPr marL="914400" lvl="1" indent="-457200">
              <a:buFont typeface="Wingdings" panose="05000000000000000000" pitchFamily="2" charset="2"/>
              <a:buChar char="§"/>
            </a:pPr>
            <a:r>
              <a:rPr lang="en-US" sz="2000">
                <a:latin typeface="Roboto" panose="02000000000000000000" pitchFamily="2" charset="0"/>
                <a:ea typeface="Roboto" panose="02000000000000000000" pitchFamily="2" charset="0"/>
                <a:cs typeface="Roboto" panose="02000000000000000000" pitchFamily="2" charset="0"/>
              </a:rPr>
              <a:t>Response time (avg, median, p90, p95, p99...).</a:t>
            </a:r>
          </a:p>
          <a:p>
            <a:pPr marL="914400" lvl="1" indent="-457200">
              <a:buFont typeface="Wingdings" panose="05000000000000000000" pitchFamily="2" charset="2"/>
              <a:buChar char="§"/>
            </a:pPr>
            <a:r>
              <a:rPr lang="en-US" sz="2000">
                <a:latin typeface="Roboto" panose="02000000000000000000" pitchFamily="2" charset="0"/>
                <a:ea typeface="Roboto" panose="02000000000000000000" pitchFamily="2" charset="0"/>
                <a:cs typeface="Roboto" panose="02000000000000000000" pitchFamily="2" charset="0"/>
              </a:rPr>
              <a:t>Throughput.</a:t>
            </a:r>
          </a:p>
          <a:p>
            <a:pPr marL="914400" lvl="1" indent="-457200">
              <a:buFont typeface="Wingdings" panose="05000000000000000000" pitchFamily="2" charset="2"/>
              <a:buChar char="§"/>
            </a:pPr>
            <a:r>
              <a:rPr lang="en-US" sz="2000">
                <a:latin typeface="Roboto" panose="02000000000000000000" pitchFamily="2" charset="0"/>
                <a:ea typeface="Roboto" panose="02000000000000000000" pitchFamily="2" charset="0"/>
                <a:cs typeface="Roboto" panose="02000000000000000000" pitchFamily="2" charset="0"/>
              </a:rPr>
              <a:t>Error rate.</a:t>
            </a:r>
          </a:p>
          <a:p>
            <a:pPr marL="914400" lvl="1" indent="-457200">
              <a:buFont typeface="Wingdings" panose="05000000000000000000" pitchFamily="2" charset="2"/>
              <a:buChar char="§"/>
            </a:pPr>
            <a:r>
              <a:rPr lang="en-US" sz="2000">
                <a:latin typeface="Roboto" panose="02000000000000000000" pitchFamily="2" charset="0"/>
                <a:ea typeface="Roboto" panose="02000000000000000000" pitchFamily="2" charset="0"/>
                <a:cs typeface="Roboto" panose="02000000000000000000" pitchFamily="2" charset="0"/>
              </a:rPr>
              <a:t>Utilization của hệ thống.</a:t>
            </a:r>
          </a:p>
          <a:p>
            <a:pPr marL="914400" lvl="1" indent="-457200">
              <a:buFont typeface="Wingdings" panose="05000000000000000000" pitchFamily="2" charset="2"/>
              <a:buChar char="§"/>
            </a:pPr>
            <a:r>
              <a:rPr lang="en-US" sz="2000">
                <a:latin typeface="Roboto" panose="02000000000000000000" pitchFamily="2" charset="0"/>
                <a:ea typeface="Roboto" panose="02000000000000000000" pitchFamily="2" charset="0"/>
                <a:cs typeface="Roboto" panose="02000000000000000000" pitchFamily="2" charset="0"/>
              </a:rPr>
              <a:t>Timeouts.</a:t>
            </a:r>
          </a:p>
          <a:p>
            <a:pPr marL="342900" indent="-342900">
              <a:buAutoNum type="arabicPeriod"/>
            </a:pPr>
            <a:r>
              <a:rPr lang="vi-VN" sz="2000">
                <a:latin typeface="Roboto" panose="02000000000000000000" pitchFamily="2" charset="0"/>
                <a:ea typeface="Roboto" panose="02000000000000000000" pitchFamily="2" charset="0"/>
                <a:cs typeface="Roboto" panose="02000000000000000000" pitchFamily="2" charset="0"/>
              </a:rPr>
              <a:t>Chuẩn bị môi trường và giám sát</a:t>
            </a:r>
            <a:endParaRPr lang="en-US" sz="2000">
              <a:latin typeface="Roboto" panose="02000000000000000000" pitchFamily="2" charset="0"/>
              <a:ea typeface="Roboto" panose="02000000000000000000" pitchFamily="2" charset="0"/>
              <a:cs typeface="Roboto" panose="02000000000000000000" pitchFamily="2" charset="0"/>
            </a:endParaRPr>
          </a:p>
          <a:p>
            <a:pPr marL="800100" lvl="1" indent="-342900">
              <a:buFont typeface="Wingdings" panose="05000000000000000000" pitchFamily="2" charset="2"/>
              <a:buChar char="§"/>
            </a:pPr>
            <a:r>
              <a:rPr lang="vi-VN" sz="2000">
                <a:latin typeface="Roboto" panose="02000000000000000000" pitchFamily="2" charset="0"/>
                <a:ea typeface="Roboto" panose="02000000000000000000" pitchFamily="2" charset="0"/>
                <a:cs typeface="Roboto" panose="02000000000000000000" pitchFamily="2" charset="0"/>
              </a:rPr>
              <a:t>Môi trường giống production</a:t>
            </a:r>
            <a:r>
              <a:rPr lang="en-US" sz="2000">
                <a:latin typeface="Roboto" panose="02000000000000000000" pitchFamily="2" charset="0"/>
                <a:ea typeface="Roboto" panose="02000000000000000000" pitchFamily="2" charset="0"/>
                <a:cs typeface="Roboto" panose="02000000000000000000" pitchFamily="2" charset="0"/>
              </a:rPr>
              <a:t>.</a:t>
            </a:r>
          </a:p>
          <a:p>
            <a:pPr marL="800100" lvl="1" indent="-342900">
              <a:buFont typeface="Wingdings" panose="05000000000000000000" pitchFamily="2" charset="2"/>
              <a:buChar char="§"/>
            </a:pPr>
            <a:r>
              <a:rPr lang="vi-VN" sz="2000">
                <a:latin typeface="Roboto" panose="02000000000000000000" pitchFamily="2" charset="0"/>
                <a:ea typeface="Roboto" panose="02000000000000000000" pitchFamily="2" charset="0"/>
                <a:cs typeface="Roboto" panose="02000000000000000000" pitchFamily="2" charset="0"/>
              </a:rPr>
              <a:t>Theo dõi CPU, RAM, I/O, database, network</a:t>
            </a:r>
            <a:r>
              <a:rPr lang="en-US" sz="2000">
                <a:latin typeface="Roboto" panose="02000000000000000000" pitchFamily="2" charset="0"/>
                <a:ea typeface="Roboto" panose="02000000000000000000" pitchFamily="2" charset="0"/>
                <a:cs typeface="Roboto" panose="02000000000000000000" pitchFamily="2" charset="0"/>
              </a:rPr>
              <a:t> (CloudWatch, DataDog, Prometheus...)</a:t>
            </a:r>
          </a:p>
          <a:p>
            <a:pPr marL="800100" lvl="1" indent="-342900">
              <a:buFont typeface="Wingdings" panose="05000000000000000000" pitchFamily="2" charset="2"/>
              <a:buChar char="§"/>
            </a:pPr>
            <a:r>
              <a:rPr lang="vi-VN" sz="2000">
                <a:latin typeface="Roboto" panose="02000000000000000000" pitchFamily="2" charset="0"/>
                <a:ea typeface="Roboto" panose="02000000000000000000" pitchFamily="2" charset="0"/>
                <a:cs typeface="Roboto" panose="02000000000000000000" pitchFamily="2" charset="0"/>
              </a:rPr>
              <a:t>Ghi log ứng dụng, </a:t>
            </a:r>
            <a:r>
              <a:rPr lang="en-US" sz="2000">
                <a:latin typeface="Roboto" panose="02000000000000000000" pitchFamily="2" charset="0"/>
                <a:ea typeface="Roboto" panose="02000000000000000000" pitchFamily="2" charset="0"/>
                <a:cs typeface="Roboto" panose="02000000000000000000" pitchFamily="2" charset="0"/>
              </a:rPr>
              <a:t>log </a:t>
            </a:r>
            <a:r>
              <a:rPr lang="vi-VN" sz="2000">
                <a:latin typeface="Roboto" panose="02000000000000000000" pitchFamily="2" charset="0"/>
                <a:ea typeface="Roboto" panose="02000000000000000000" pitchFamily="2" charset="0"/>
                <a:cs typeface="Roboto" panose="02000000000000000000" pitchFamily="2" charset="0"/>
              </a:rPr>
              <a:t>DB.</a:t>
            </a:r>
            <a:r>
              <a:rPr lang="en-US" sz="2000">
                <a:latin typeface="Roboto" panose="02000000000000000000" pitchFamily="2" charset="0"/>
                <a:ea typeface="Roboto" panose="02000000000000000000" pitchFamily="2" charset="0"/>
                <a:cs typeface="Roboto" panose="02000000000000000000" pitchFamily="2" charset="0"/>
              </a:rPr>
              <a:t>..</a:t>
            </a:r>
          </a:p>
          <a:p>
            <a:pPr marL="800100" lvl="1" indent="-342900">
              <a:buFont typeface="Wingdings" panose="05000000000000000000" pitchFamily="2" charset="2"/>
              <a:buChar char="§"/>
            </a:pPr>
            <a:r>
              <a:rPr lang="en-US" sz="2000">
                <a:latin typeface="Roboto" panose="02000000000000000000" pitchFamily="2" charset="0"/>
                <a:ea typeface="Roboto" panose="02000000000000000000" pitchFamily="2" charset="0"/>
                <a:cs typeface="Roboto" panose="02000000000000000000" pitchFamily="2" charset="0"/>
              </a:rPr>
              <a:t>Mock server trong trường hợp muốn cắt bỏ chi phí SMS/Email...</a:t>
            </a:r>
          </a:p>
          <a:p>
            <a:pPr marL="800100" lvl="1" indent="-342900">
              <a:buFont typeface="Wingdings" panose="05000000000000000000" pitchFamily="2" charset="2"/>
              <a:buChar char="§"/>
            </a:pPr>
            <a:r>
              <a:rPr lang="en-US" sz="2000">
                <a:latin typeface="Roboto" panose="02000000000000000000" pitchFamily="2" charset="0"/>
                <a:ea typeface="Roboto" panose="02000000000000000000" pitchFamily="2" charset="0"/>
                <a:cs typeface="Roboto" panose="02000000000000000000" pitchFamily="2" charset="0"/>
              </a:rPr>
              <a:t>Chuẩn bị data test trên môi trường test (Cognito, DB...)</a:t>
            </a:r>
            <a:endParaRPr lang="vi-VN" sz="2000">
              <a:latin typeface="Roboto" panose="02000000000000000000" pitchFamily="2" charset="0"/>
              <a:ea typeface="Roboto" panose="02000000000000000000" pitchFamily="2" charset="0"/>
              <a:cs typeface="Roboto" panose="02000000000000000000" pitchFamily="2" charset="0"/>
            </a:endParaRPr>
          </a:p>
        </p:txBody>
      </p:sp>
      <p:pic>
        <p:nvPicPr>
          <p:cNvPr id="15" name="Picture 14">
            <a:extLst>
              <a:ext uri="{FF2B5EF4-FFF2-40B4-BE49-F238E27FC236}">
                <a16:creationId xmlns:a16="http://schemas.microsoft.com/office/drawing/2014/main" id="{57E05B2A-4094-D91F-AFE0-250E783F6A91}"/>
              </a:ext>
            </a:extLst>
          </p:cNvPr>
          <p:cNvPicPr>
            <a:picLocks noChangeAspect="1"/>
          </p:cNvPicPr>
          <p:nvPr/>
        </p:nvPicPr>
        <p:blipFill>
          <a:blip r:embed="rId4"/>
          <a:srcRect l="14287" r="10714"/>
          <a:stretch>
            <a:fillRect/>
          </a:stretch>
        </p:blipFill>
        <p:spPr>
          <a:xfrm>
            <a:off x="13011151" y="5653042"/>
            <a:ext cx="1600201" cy="1200150"/>
          </a:xfrm>
          <a:prstGeom prst="rect">
            <a:avLst/>
          </a:prstGeom>
          <a:ln>
            <a:noFill/>
          </a:ln>
          <a:effectLst>
            <a:outerShdw blurRad="190500" algn="tl" rotWithShape="0">
              <a:srgbClr val="000000">
                <a:alpha val="70000"/>
              </a:srgbClr>
            </a:outerShdw>
          </a:effectLst>
        </p:spPr>
      </p:pic>
      <p:pic>
        <p:nvPicPr>
          <p:cNvPr id="16" name="Picture 15">
            <a:extLst>
              <a:ext uri="{FF2B5EF4-FFF2-40B4-BE49-F238E27FC236}">
                <a16:creationId xmlns:a16="http://schemas.microsoft.com/office/drawing/2014/main" id="{B9A619EF-18BE-9A65-2573-346E9FB6C4A8}"/>
              </a:ext>
            </a:extLst>
          </p:cNvPr>
          <p:cNvPicPr>
            <a:picLocks noChangeAspect="1"/>
          </p:cNvPicPr>
          <p:nvPr/>
        </p:nvPicPr>
        <p:blipFill>
          <a:blip r:embed="rId5"/>
          <a:srcRect l="17866" r="14652"/>
          <a:stretch>
            <a:fillRect/>
          </a:stretch>
        </p:blipFill>
        <p:spPr>
          <a:xfrm>
            <a:off x="13011151" y="3894479"/>
            <a:ext cx="1600200" cy="1248890"/>
          </a:xfrm>
          <a:prstGeom prst="rect">
            <a:avLst/>
          </a:prstGeom>
          <a:ln>
            <a:noFill/>
          </a:ln>
          <a:effectLst>
            <a:outerShdw blurRad="190500" algn="tl" rotWithShape="0">
              <a:srgbClr val="000000">
                <a:alpha val="70000"/>
              </a:srgbClr>
            </a:outerShdw>
          </a:effectLst>
        </p:spPr>
      </p:pic>
      <p:pic>
        <p:nvPicPr>
          <p:cNvPr id="3081" name="Picture 9" descr="Colorful cartoon style column chart clipart for data visualization |  Premium AI-generated vector">
            <a:extLst>
              <a:ext uri="{FF2B5EF4-FFF2-40B4-BE49-F238E27FC236}">
                <a16:creationId xmlns:a16="http://schemas.microsoft.com/office/drawing/2014/main" id="{DD4A5B0E-7376-9C8F-23BA-1614064D45F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2076" t="-17567" r="12453" b="12516"/>
          <a:stretch>
            <a:fillRect/>
          </a:stretch>
        </p:blipFill>
        <p:spPr bwMode="auto">
          <a:xfrm>
            <a:off x="13011151" y="2135916"/>
            <a:ext cx="1600201" cy="124889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3085" name="Picture 13" descr="410+ Drama Preparation Stock Illustrations, Royalty-Free Vector Graphics &amp;  Clip Art - iStock | Global awareness">
            <a:extLst>
              <a:ext uri="{FF2B5EF4-FFF2-40B4-BE49-F238E27FC236}">
                <a16:creationId xmlns:a16="http://schemas.microsoft.com/office/drawing/2014/main" id="{D47CB8A5-AE20-9E37-DB9B-C63C198F9D9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824" r="7981" b="2618"/>
          <a:stretch>
            <a:fillRect/>
          </a:stretch>
        </p:blipFill>
        <p:spPr bwMode="auto">
          <a:xfrm>
            <a:off x="12992101" y="7362866"/>
            <a:ext cx="1638301" cy="127845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cxnSp>
        <p:nvCxnSpPr>
          <p:cNvPr id="21" name="Straight Arrow Connector 20">
            <a:extLst>
              <a:ext uri="{FF2B5EF4-FFF2-40B4-BE49-F238E27FC236}">
                <a16:creationId xmlns:a16="http://schemas.microsoft.com/office/drawing/2014/main" id="{FB6E413F-C9F5-9A36-981B-84ECBA89E98A}"/>
              </a:ext>
            </a:extLst>
          </p:cNvPr>
          <p:cNvCxnSpPr>
            <a:stCxn id="3081" idx="2"/>
            <a:endCxn id="16" idx="0"/>
          </p:cNvCxnSpPr>
          <p:nvPr/>
        </p:nvCxnSpPr>
        <p:spPr>
          <a:xfrm flipH="1">
            <a:off x="13811251" y="3384806"/>
            <a:ext cx="1" cy="509673"/>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22" name="Straight Arrow Connector 21">
            <a:extLst>
              <a:ext uri="{FF2B5EF4-FFF2-40B4-BE49-F238E27FC236}">
                <a16:creationId xmlns:a16="http://schemas.microsoft.com/office/drawing/2014/main" id="{94366AD5-87D3-71B8-5910-F800C9E7B369}"/>
              </a:ext>
            </a:extLst>
          </p:cNvPr>
          <p:cNvCxnSpPr>
            <a:cxnSpLocks/>
            <a:stCxn id="16" idx="2"/>
            <a:endCxn id="15" idx="0"/>
          </p:cNvCxnSpPr>
          <p:nvPr/>
        </p:nvCxnSpPr>
        <p:spPr>
          <a:xfrm>
            <a:off x="13811251" y="5143369"/>
            <a:ext cx="1" cy="509673"/>
          </a:xfrm>
          <a:prstGeom prst="straightConnector1">
            <a:avLst/>
          </a:prstGeom>
          <a:ln w="38100">
            <a:solidFill>
              <a:schemeClr val="accent6"/>
            </a:solidFill>
            <a:tailEnd type="triangle"/>
          </a:ln>
        </p:spPr>
        <p:style>
          <a:lnRef idx="1">
            <a:schemeClr val="accent6"/>
          </a:lnRef>
          <a:fillRef idx="0">
            <a:schemeClr val="accent6"/>
          </a:fillRef>
          <a:effectRef idx="0">
            <a:schemeClr val="accent6"/>
          </a:effectRef>
          <a:fontRef idx="minor">
            <a:schemeClr val="tx1"/>
          </a:fontRef>
        </p:style>
      </p:cxnSp>
      <p:cxnSp>
        <p:nvCxnSpPr>
          <p:cNvPr id="26" name="Straight Arrow Connector 25">
            <a:extLst>
              <a:ext uri="{FF2B5EF4-FFF2-40B4-BE49-F238E27FC236}">
                <a16:creationId xmlns:a16="http://schemas.microsoft.com/office/drawing/2014/main" id="{0AFEE5AF-99FF-0508-4F74-7D76AC604CA4}"/>
              </a:ext>
            </a:extLst>
          </p:cNvPr>
          <p:cNvCxnSpPr>
            <a:cxnSpLocks/>
            <a:stCxn id="15" idx="2"/>
            <a:endCxn id="3085" idx="0"/>
          </p:cNvCxnSpPr>
          <p:nvPr/>
        </p:nvCxnSpPr>
        <p:spPr>
          <a:xfrm>
            <a:off x="13811252" y="6853192"/>
            <a:ext cx="0" cy="509674"/>
          </a:xfrm>
          <a:prstGeom prst="straightConnector1">
            <a:avLst/>
          </a:prstGeom>
          <a:ln w="38100">
            <a:solidFill>
              <a:srgbClr val="00B0F0"/>
            </a:solidFill>
            <a:tailEnd type="triangle"/>
          </a:ln>
        </p:spPr>
        <p:style>
          <a:lnRef idx="1">
            <a:schemeClr val="accent6"/>
          </a:lnRef>
          <a:fillRef idx="0">
            <a:schemeClr val="accent6"/>
          </a:fillRef>
          <a:effectRef idx="0">
            <a:schemeClr val="accent6"/>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31704" y="9610725"/>
            <a:ext cx="15624461" cy="0"/>
          </a:xfrm>
          <a:prstGeom prst="line">
            <a:avLst/>
          </a:prstGeom>
          <a:ln w="19050" cap="flat">
            <a:solidFill>
              <a:srgbClr val="1F1F1F"/>
            </a:solidFill>
            <a:prstDash val="solid"/>
            <a:headEnd type="none" w="sm" len="sm"/>
            <a:tailEnd type="none" w="sm" len="sm"/>
          </a:ln>
        </p:spPr>
      </p:sp>
      <p:sp>
        <p:nvSpPr>
          <p:cNvPr id="3" name="Freeform 3"/>
          <p:cNvSpPr/>
          <p:nvPr/>
        </p:nvSpPr>
        <p:spPr>
          <a:xfrm>
            <a:off x="671512" y="9387884"/>
            <a:ext cx="445682" cy="445682"/>
          </a:xfrm>
          <a:custGeom>
            <a:avLst/>
            <a:gdLst/>
            <a:ahLst/>
            <a:cxnLst/>
            <a:rect l="l" t="t" r="r" b="b"/>
            <a:pathLst>
              <a:path w="445682" h="445682">
                <a:moveTo>
                  <a:pt x="0" y="0"/>
                </a:moveTo>
                <a:lnTo>
                  <a:pt x="445683" y="0"/>
                </a:lnTo>
                <a:lnTo>
                  <a:pt x="445683" y="445682"/>
                </a:lnTo>
                <a:lnTo>
                  <a:pt x="0" y="4456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17367510" y="9412274"/>
            <a:ext cx="144270" cy="333425"/>
          </a:xfrm>
          <a:prstGeom prst="rect">
            <a:avLst/>
          </a:prstGeom>
        </p:spPr>
        <p:txBody>
          <a:bodyPr wrap="none" lIns="0" tIns="0" rIns="0" bIns="0" rtlCol="0" anchor="t">
            <a:spAutoFit/>
          </a:bodyPr>
          <a:lstStyle/>
          <a:p>
            <a:pPr algn="r">
              <a:lnSpc>
                <a:spcPts val="2800"/>
              </a:lnSpc>
              <a:spcBef>
                <a:spcPct val="0"/>
              </a:spcBef>
            </a:pPr>
            <a:r>
              <a:rPr lang="en-US" sz="2000">
                <a:solidFill>
                  <a:srgbClr val="1F1F1F"/>
                </a:solidFill>
                <a:latin typeface="Roboto" panose="02000000000000000000" pitchFamily="2" charset="0"/>
                <a:ea typeface="Roboto" panose="02000000000000000000" pitchFamily="2" charset="0"/>
                <a:cs typeface="Roboto" panose="02000000000000000000" pitchFamily="2" charset="0"/>
                <a:sym typeface="Raleway"/>
              </a:rPr>
              <a:t>5</a:t>
            </a:r>
          </a:p>
        </p:txBody>
      </p:sp>
      <p:pic>
        <p:nvPicPr>
          <p:cNvPr id="4100" name="Picture 4" descr="GitHub - apache/jmeter: Apache JMeter open-source load testing tool for  analyzing and measuring the performance of a variety of services">
            <a:extLst>
              <a:ext uri="{FF2B5EF4-FFF2-40B4-BE49-F238E27FC236}">
                <a16:creationId xmlns:a16="http://schemas.microsoft.com/office/drawing/2014/main" id="{57B18DC5-F8BE-C6AB-3D50-664E3F82D5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1171" y="2095503"/>
            <a:ext cx="14685659" cy="70865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7" name="TextBox 2">
            <a:extLst>
              <a:ext uri="{FF2B5EF4-FFF2-40B4-BE49-F238E27FC236}">
                <a16:creationId xmlns:a16="http://schemas.microsoft.com/office/drawing/2014/main" id="{1E59F6F6-D712-A32B-7E15-5630AAF4D924}"/>
              </a:ext>
            </a:extLst>
          </p:cNvPr>
          <p:cNvSpPr txBox="1"/>
          <p:nvPr/>
        </p:nvSpPr>
        <p:spPr>
          <a:xfrm>
            <a:off x="666750" y="742950"/>
            <a:ext cx="11201400" cy="1182953"/>
          </a:xfrm>
          <a:prstGeom prst="rect">
            <a:avLst/>
          </a:prstGeom>
        </p:spPr>
        <p:txBody>
          <a:bodyPr lIns="0" tIns="0" rIns="0" bIns="0" rtlCol="0" anchor="t">
            <a:spAutoFit/>
          </a:bodyPr>
          <a:lstStyle/>
          <a:p>
            <a:pPr lvl="0">
              <a:lnSpc>
                <a:spcPts val="9900"/>
              </a:lnSpc>
            </a:pPr>
            <a:r>
              <a:rPr lang="en-US" sz="7200">
                <a:solidFill>
                  <a:srgbClr val="1F1F1F"/>
                </a:solidFill>
                <a:latin typeface="Roboto" panose="02000000000000000000" pitchFamily="2" charset="0"/>
                <a:ea typeface="Roboto" panose="02000000000000000000" pitchFamily="2" charset="0"/>
                <a:cs typeface="Roboto" panose="02000000000000000000" pitchFamily="2" charset="0"/>
                <a:sym typeface="Raleway"/>
              </a:rPr>
              <a:t>Perf Test với Jmeter + AI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FF470B4-0035-D34C-990A-ADB37272E0BB}"/>
              </a:ext>
            </a:extLst>
          </p:cNvPr>
          <p:cNvPicPr>
            <a:picLocks noChangeAspect="1"/>
          </p:cNvPicPr>
          <p:nvPr/>
        </p:nvPicPr>
        <p:blipFill>
          <a:blip r:embed="rId2"/>
          <a:stretch>
            <a:fillRect/>
          </a:stretch>
        </p:blipFill>
        <p:spPr>
          <a:xfrm>
            <a:off x="0" y="0"/>
            <a:ext cx="18288000" cy="10287000"/>
          </a:xfrm>
          <a:prstGeom prst="rect">
            <a:avLst/>
          </a:prstGeom>
        </p:spPr>
      </p:pic>
      <p:sp>
        <p:nvSpPr>
          <p:cNvPr id="3" name="Freeform 3"/>
          <p:cNvSpPr/>
          <p:nvPr/>
        </p:nvSpPr>
        <p:spPr>
          <a:xfrm>
            <a:off x="671512" y="9387884"/>
            <a:ext cx="445682" cy="445682"/>
          </a:xfrm>
          <a:custGeom>
            <a:avLst/>
            <a:gdLst/>
            <a:ahLst/>
            <a:cxnLst/>
            <a:rect l="l" t="t" r="r" b="b"/>
            <a:pathLst>
              <a:path w="445682" h="445682">
                <a:moveTo>
                  <a:pt x="0" y="0"/>
                </a:moveTo>
                <a:lnTo>
                  <a:pt x="445683" y="0"/>
                </a:lnTo>
                <a:lnTo>
                  <a:pt x="445683" y="445682"/>
                </a:lnTo>
                <a:lnTo>
                  <a:pt x="0" y="4456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666750" y="723900"/>
            <a:ext cx="13208441" cy="1182953"/>
          </a:xfrm>
          <a:prstGeom prst="rect">
            <a:avLst/>
          </a:prstGeom>
        </p:spPr>
        <p:txBody>
          <a:bodyPr lIns="0" tIns="0" rIns="0" bIns="0" rtlCol="0" anchor="t">
            <a:spAutoFit/>
          </a:bodyPr>
          <a:lstStyle/>
          <a:p>
            <a:pPr marL="0" lvl="0" indent="0" algn="l">
              <a:lnSpc>
                <a:spcPts val="9900"/>
              </a:lnSpc>
            </a:pPr>
            <a:r>
              <a:rPr lang="en-US" sz="7200">
                <a:solidFill>
                  <a:schemeClr val="bg1"/>
                </a:solidFill>
                <a:latin typeface="Roboto" panose="02000000000000000000" pitchFamily="2" charset="0"/>
                <a:ea typeface="Roboto" panose="02000000000000000000" pitchFamily="2" charset="0"/>
                <a:cs typeface="Roboto" panose="02000000000000000000" pitchFamily="2" charset="0"/>
                <a:sym typeface="Raleway"/>
              </a:rPr>
              <a:t>Game: Kahoot!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9"/>
          <p:cNvSpPr txBox="1"/>
          <p:nvPr/>
        </p:nvSpPr>
        <p:spPr>
          <a:xfrm>
            <a:off x="17378619" y="9412274"/>
            <a:ext cx="144270" cy="333425"/>
          </a:xfrm>
          <a:prstGeom prst="rect">
            <a:avLst/>
          </a:prstGeom>
        </p:spPr>
        <p:txBody>
          <a:bodyPr wrap="none" lIns="0" tIns="0" rIns="0" bIns="0" rtlCol="0" anchor="t">
            <a:spAutoFit/>
          </a:bodyPr>
          <a:lstStyle/>
          <a:p>
            <a:pPr algn="r">
              <a:lnSpc>
                <a:spcPts val="2800"/>
              </a:lnSpc>
              <a:spcBef>
                <a:spcPct val="0"/>
              </a:spcBef>
            </a:pPr>
            <a:r>
              <a:rPr lang="en-US" sz="2000">
                <a:solidFill>
                  <a:srgbClr val="1F1F1F"/>
                </a:solidFill>
                <a:latin typeface="Roboto" panose="02000000000000000000" pitchFamily="2" charset="0"/>
                <a:ea typeface="Roboto" panose="02000000000000000000" pitchFamily="2" charset="0"/>
                <a:cs typeface="Roboto" panose="02000000000000000000" pitchFamily="2" charset="0"/>
                <a:sym typeface="Raleway"/>
              </a:rPr>
              <a:t>6</a:t>
            </a:r>
          </a:p>
        </p:txBody>
      </p:sp>
      <p:sp>
        <p:nvSpPr>
          <p:cNvPr id="10" name="AutoShape 10"/>
          <p:cNvSpPr/>
          <p:nvPr/>
        </p:nvSpPr>
        <p:spPr>
          <a:xfrm>
            <a:off x="1431704" y="9610725"/>
            <a:ext cx="15624461" cy="0"/>
          </a:xfrm>
          <a:prstGeom prst="line">
            <a:avLst/>
          </a:prstGeom>
          <a:ln w="19050" cap="flat">
            <a:solidFill>
              <a:srgbClr val="1F1F1F"/>
            </a:solidFill>
            <a:prstDash val="solid"/>
            <a:headEnd type="none" w="sm" len="sm"/>
            <a:tailEnd type="none" w="sm" len="sm"/>
          </a:ln>
        </p:spPr>
      </p:sp>
      <p:sp>
        <p:nvSpPr>
          <p:cNvPr id="11" name="Freeform 11"/>
          <p:cNvSpPr/>
          <p:nvPr/>
        </p:nvSpPr>
        <p:spPr>
          <a:xfrm>
            <a:off x="671512" y="9387884"/>
            <a:ext cx="445682" cy="445682"/>
          </a:xfrm>
          <a:custGeom>
            <a:avLst/>
            <a:gdLst/>
            <a:ahLst/>
            <a:cxnLst/>
            <a:rect l="l" t="t" r="r" b="b"/>
            <a:pathLst>
              <a:path w="445682" h="445682">
                <a:moveTo>
                  <a:pt x="0" y="0"/>
                </a:moveTo>
                <a:lnTo>
                  <a:pt x="445683" y="0"/>
                </a:lnTo>
                <a:lnTo>
                  <a:pt x="445683" y="445682"/>
                </a:lnTo>
                <a:lnTo>
                  <a:pt x="0" y="4456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2">
            <a:extLst>
              <a:ext uri="{FF2B5EF4-FFF2-40B4-BE49-F238E27FC236}">
                <a16:creationId xmlns:a16="http://schemas.microsoft.com/office/drawing/2014/main" id="{2CE1F846-E894-90BB-27A6-9E9D0BF22123}"/>
              </a:ext>
            </a:extLst>
          </p:cNvPr>
          <p:cNvSpPr txBox="1"/>
          <p:nvPr/>
        </p:nvSpPr>
        <p:spPr>
          <a:xfrm>
            <a:off x="666750" y="742950"/>
            <a:ext cx="16173450" cy="1182953"/>
          </a:xfrm>
          <a:prstGeom prst="rect">
            <a:avLst/>
          </a:prstGeom>
        </p:spPr>
        <p:txBody>
          <a:bodyPr wrap="square" lIns="0" tIns="0" rIns="0" bIns="0" rtlCol="0" anchor="t">
            <a:spAutoFit/>
          </a:bodyPr>
          <a:lstStyle/>
          <a:p>
            <a:pPr lvl="0">
              <a:lnSpc>
                <a:spcPts val="9900"/>
              </a:lnSpc>
            </a:pPr>
            <a:r>
              <a:rPr lang="en-US" sz="7200">
                <a:solidFill>
                  <a:srgbClr val="1F1F1F"/>
                </a:solidFill>
                <a:latin typeface="Roboto" panose="02000000000000000000" pitchFamily="2" charset="0"/>
                <a:ea typeface="Roboto" panose="02000000000000000000" pitchFamily="2" charset="0"/>
                <a:cs typeface="Roboto" panose="02000000000000000000" pitchFamily="2" charset="0"/>
                <a:sym typeface="Raleway"/>
              </a:rPr>
              <a:t>Thực hành: Perf Test với Jmeter + AI</a:t>
            </a:r>
          </a:p>
        </p:txBody>
      </p:sp>
      <p:sp>
        <p:nvSpPr>
          <p:cNvPr id="4" name="Freeform 3">
            <a:extLst>
              <a:ext uri="{FF2B5EF4-FFF2-40B4-BE49-F238E27FC236}">
                <a16:creationId xmlns:a16="http://schemas.microsoft.com/office/drawing/2014/main" id="{0B0152EA-D8C1-36C0-4A62-03BF006C8127}"/>
              </a:ext>
            </a:extLst>
          </p:cNvPr>
          <p:cNvSpPr/>
          <p:nvPr/>
        </p:nvSpPr>
        <p:spPr>
          <a:xfrm>
            <a:off x="1331769" y="2324100"/>
            <a:ext cx="15624462" cy="6606551"/>
          </a:xfrm>
          <a:custGeom>
            <a:avLst/>
            <a:gdLst/>
            <a:ahLst/>
            <a:cxnLst/>
            <a:rect l="l" t="t" r="r" b="b"/>
            <a:pathLst>
              <a:path w="2624448" h="1109705">
                <a:moveTo>
                  <a:pt x="0" y="0"/>
                </a:moveTo>
                <a:lnTo>
                  <a:pt x="2624448" y="0"/>
                </a:lnTo>
                <a:lnTo>
                  <a:pt x="2624448" y="1109705"/>
                </a:lnTo>
                <a:lnTo>
                  <a:pt x="0" y="1109705"/>
                </a:lnTo>
                <a:close/>
              </a:path>
            </a:pathLst>
          </a:custGeom>
          <a:blipFill>
            <a:blip r:embed="rId4"/>
            <a:stretch>
              <a:fillRect l="-790" r="-790"/>
            </a:stretch>
          </a:blipFill>
          <a:ln w="19050" cap="sq">
            <a:solidFill>
              <a:srgbClr val="FFFFFF"/>
            </a:solidFill>
            <a:prstDash val="solid"/>
            <a:miter/>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6E907-3E58-D1DB-E0FB-945A295B6173}"/>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A5F7CF72-FD94-5364-CC6D-62E48C2E892E}"/>
              </a:ext>
            </a:extLst>
          </p:cNvPr>
          <p:cNvSpPr txBox="1"/>
          <p:nvPr/>
        </p:nvSpPr>
        <p:spPr>
          <a:xfrm>
            <a:off x="17378619" y="9412274"/>
            <a:ext cx="144270" cy="333425"/>
          </a:xfrm>
          <a:prstGeom prst="rect">
            <a:avLst/>
          </a:prstGeom>
        </p:spPr>
        <p:txBody>
          <a:bodyPr wrap="none" lIns="0" tIns="0" rIns="0" bIns="0" rtlCol="0" anchor="t">
            <a:spAutoFit/>
          </a:bodyPr>
          <a:lstStyle/>
          <a:p>
            <a:pPr algn="r">
              <a:lnSpc>
                <a:spcPts val="2800"/>
              </a:lnSpc>
              <a:spcBef>
                <a:spcPct val="0"/>
              </a:spcBef>
            </a:pPr>
            <a:r>
              <a:rPr lang="en-US" sz="2000">
                <a:solidFill>
                  <a:srgbClr val="1F1F1F"/>
                </a:solidFill>
                <a:latin typeface="Roboto" panose="02000000000000000000" pitchFamily="2" charset="0"/>
                <a:ea typeface="Roboto" panose="02000000000000000000" pitchFamily="2" charset="0"/>
                <a:cs typeface="Roboto" panose="02000000000000000000" pitchFamily="2" charset="0"/>
                <a:sym typeface="Raleway"/>
              </a:rPr>
              <a:t>7</a:t>
            </a:r>
          </a:p>
        </p:txBody>
      </p:sp>
      <p:sp>
        <p:nvSpPr>
          <p:cNvPr id="10" name="AutoShape 10">
            <a:extLst>
              <a:ext uri="{FF2B5EF4-FFF2-40B4-BE49-F238E27FC236}">
                <a16:creationId xmlns:a16="http://schemas.microsoft.com/office/drawing/2014/main" id="{C56E9B92-5FE1-A4DD-B2A2-D84C405FAB58}"/>
              </a:ext>
            </a:extLst>
          </p:cNvPr>
          <p:cNvSpPr/>
          <p:nvPr/>
        </p:nvSpPr>
        <p:spPr>
          <a:xfrm>
            <a:off x="1431704" y="9610725"/>
            <a:ext cx="15624461" cy="0"/>
          </a:xfrm>
          <a:prstGeom prst="line">
            <a:avLst/>
          </a:prstGeom>
          <a:ln w="19050" cap="flat">
            <a:solidFill>
              <a:srgbClr val="1F1F1F"/>
            </a:solidFill>
            <a:prstDash val="solid"/>
            <a:headEnd type="none" w="sm" len="sm"/>
            <a:tailEnd type="none" w="sm" len="sm"/>
          </a:ln>
        </p:spPr>
      </p:sp>
      <p:sp>
        <p:nvSpPr>
          <p:cNvPr id="11" name="Freeform 11">
            <a:extLst>
              <a:ext uri="{FF2B5EF4-FFF2-40B4-BE49-F238E27FC236}">
                <a16:creationId xmlns:a16="http://schemas.microsoft.com/office/drawing/2014/main" id="{DC8FA5F9-89D1-CF73-A267-11431B63AE45}"/>
              </a:ext>
            </a:extLst>
          </p:cNvPr>
          <p:cNvSpPr/>
          <p:nvPr/>
        </p:nvSpPr>
        <p:spPr>
          <a:xfrm>
            <a:off x="671512" y="9387884"/>
            <a:ext cx="445682" cy="445682"/>
          </a:xfrm>
          <a:custGeom>
            <a:avLst/>
            <a:gdLst/>
            <a:ahLst/>
            <a:cxnLst/>
            <a:rect l="l" t="t" r="r" b="b"/>
            <a:pathLst>
              <a:path w="445682" h="445682">
                <a:moveTo>
                  <a:pt x="0" y="0"/>
                </a:moveTo>
                <a:lnTo>
                  <a:pt x="445683" y="0"/>
                </a:lnTo>
                <a:lnTo>
                  <a:pt x="445683" y="445682"/>
                </a:lnTo>
                <a:lnTo>
                  <a:pt x="0" y="4456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2">
            <a:extLst>
              <a:ext uri="{FF2B5EF4-FFF2-40B4-BE49-F238E27FC236}">
                <a16:creationId xmlns:a16="http://schemas.microsoft.com/office/drawing/2014/main" id="{CA1E41C8-4C61-CEB3-6421-BF310F64DF09}"/>
              </a:ext>
            </a:extLst>
          </p:cNvPr>
          <p:cNvSpPr txBox="1"/>
          <p:nvPr/>
        </p:nvSpPr>
        <p:spPr>
          <a:xfrm>
            <a:off x="666750" y="742950"/>
            <a:ext cx="13887450" cy="1182953"/>
          </a:xfrm>
          <a:prstGeom prst="rect">
            <a:avLst/>
          </a:prstGeom>
        </p:spPr>
        <p:txBody>
          <a:bodyPr wrap="square" lIns="0" tIns="0" rIns="0" bIns="0" rtlCol="0" anchor="t">
            <a:spAutoFit/>
          </a:bodyPr>
          <a:lstStyle/>
          <a:p>
            <a:pPr lvl="0">
              <a:lnSpc>
                <a:spcPts val="9900"/>
              </a:lnSpc>
            </a:pPr>
            <a:r>
              <a:rPr lang="en-US" sz="7200">
                <a:solidFill>
                  <a:srgbClr val="1F1F1F"/>
                </a:solidFill>
                <a:latin typeface="Roboto" panose="02000000000000000000" pitchFamily="2" charset="0"/>
                <a:ea typeface="Roboto" panose="02000000000000000000" pitchFamily="2" charset="0"/>
                <a:cs typeface="Roboto" panose="02000000000000000000" pitchFamily="2" charset="0"/>
                <a:sym typeface="Raleway"/>
              </a:rPr>
              <a:t>Perf Test với Locust + AI</a:t>
            </a:r>
          </a:p>
        </p:txBody>
      </p:sp>
      <p:pic>
        <p:nvPicPr>
          <p:cNvPr id="5122" name="Picture 2" descr="Locust - A modern load testing framework">
            <a:extLst>
              <a:ext uri="{FF2B5EF4-FFF2-40B4-BE49-F238E27FC236}">
                <a16:creationId xmlns:a16="http://schemas.microsoft.com/office/drawing/2014/main" id="{1D1E6024-0818-65E1-1FFB-8B89442B4B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3096" y="2197318"/>
            <a:ext cx="11381809" cy="690258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6520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31704" y="9610725"/>
            <a:ext cx="15624461" cy="0"/>
          </a:xfrm>
          <a:prstGeom prst="line">
            <a:avLst/>
          </a:prstGeom>
          <a:ln w="19050" cap="flat">
            <a:solidFill>
              <a:srgbClr val="1F1F1F"/>
            </a:solidFill>
            <a:prstDash val="solid"/>
            <a:headEnd type="none" w="sm" len="sm"/>
            <a:tailEnd type="none" w="sm" len="sm"/>
          </a:ln>
        </p:spPr>
      </p:sp>
      <p:sp>
        <p:nvSpPr>
          <p:cNvPr id="10" name="Freeform 10"/>
          <p:cNvSpPr/>
          <p:nvPr/>
        </p:nvSpPr>
        <p:spPr>
          <a:xfrm>
            <a:off x="671512" y="9387884"/>
            <a:ext cx="445682" cy="445682"/>
          </a:xfrm>
          <a:custGeom>
            <a:avLst/>
            <a:gdLst/>
            <a:ahLst/>
            <a:cxnLst/>
            <a:rect l="l" t="t" r="r" b="b"/>
            <a:pathLst>
              <a:path w="445682" h="445682">
                <a:moveTo>
                  <a:pt x="0" y="0"/>
                </a:moveTo>
                <a:lnTo>
                  <a:pt x="445683" y="0"/>
                </a:lnTo>
                <a:lnTo>
                  <a:pt x="445683" y="445682"/>
                </a:lnTo>
                <a:lnTo>
                  <a:pt x="0" y="4456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17367510" y="9412274"/>
            <a:ext cx="144270" cy="333425"/>
          </a:xfrm>
          <a:prstGeom prst="rect">
            <a:avLst/>
          </a:prstGeom>
        </p:spPr>
        <p:txBody>
          <a:bodyPr wrap="none" lIns="0" tIns="0" rIns="0" bIns="0" rtlCol="0" anchor="t">
            <a:spAutoFit/>
          </a:bodyPr>
          <a:lstStyle/>
          <a:p>
            <a:pPr algn="r">
              <a:lnSpc>
                <a:spcPts val="2800"/>
              </a:lnSpc>
              <a:spcBef>
                <a:spcPct val="0"/>
              </a:spcBef>
            </a:pPr>
            <a:r>
              <a:rPr lang="en-US" sz="2000">
                <a:solidFill>
                  <a:srgbClr val="1F1F1F"/>
                </a:solidFill>
                <a:latin typeface="Roboto" panose="02000000000000000000" pitchFamily="2" charset="0"/>
                <a:ea typeface="Roboto" panose="02000000000000000000" pitchFamily="2" charset="0"/>
                <a:cs typeface="Roboto" panose="02000000000000000000" pitchFamily="2" charset="0"/>
                <a:sym typeface="Raleway"/>
              </a:rPr>
              <a:t>8</a:t>
            </a:r>
          </a:p>
        </p:txBody>
      </p:sp>
      <p:sp>
        <p:nvSpPr>
          <p:cNvPr id="3" name="TextBox 2">
            <a:extLst>
              <a:ext uri="{FF2B5EF4-FFF2-40B4-BE49-F238E27FC236}">
                <a16:creationId xmlns:a16="http://schemas.microsoft.com/office/drawing/2014/main" id="{6F4AE7A5-F5FE-9DAC-08CE-F789A4676C42}"/>
              </a:ext>
            </a:extLst>
          </p:cNvPr>
          <p:cNvSpPr txBox="1"/>
          <p:nvPr/>
        </p:nvSpPr>
        <p:spPr>
          <a:xfrm>
            <a:off x="666750" y="742950"/>
            <a:ext cx="16700760" cy="1182953"/>
          </a:xfrm>
          <a:prstGeom prst="rect">
            <a:avLst/>
          </a:prstGeom>
        </p:spPr>
        <p:txBody>
          <a:bodyPr wrap="square" lIns="0" tIns="0" rIns="0" bIns="0" rtlCol="0" anchor="t">
            <a:spAutoFit/>
          </a:bodyPr>
          <a:lstStyle/>
          <a:p>
            <a:pPr lvl="0">
              <a:lnSpc>
                <a:spcPts val="9900"/>
              </a:lnSpc>
            </a:pPr>
            <a:r>
              <a:rPr lang="en-US" sz="7200">
                <a:solidFill>
                  <a:srgbClr val="1F1F1F"/>
                </a:solidFill>
                <a:latin typeface="Roboto" panose="02000000000000000000" pitchFamily="2" charset="0"/>
                <a:ea typeface="Roboto" panose="02000000000000000000" pitchFamily="2" charset="0"/>
                <a:cs typeface="Roboto" panose="02000000000000000000" pitchFamily="2" charset="0"/>
                <a:sym typeface="Raleway"/>
              </a:rPr>
              <a:t>Distributed Perf Test với Locust + AI</a:t>
            </a:r>
          </a:p>
        </p:txBody>
      </p:sp>
      <p:pic>
        <p:nvPicPr>
          <p:cNvPr id="7170" name="Picture 2" descr="How to Load Test Web Services with Locust - Intersog">
            <a:extLst>
              <a:ext uri="{FF2B5EF4-FFF2-40B4-BE49-F238E27FC236}">
                <a16:creationId xmlns:a16="http://schemas.microsoft.com/office/drawing/2014/main" id="{5DA79824-2D02-0ECF-95AC-FE5844026D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3007" y="2168259"/>
            <a:ext cx="9241987" cy="693419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356E0-D640-7B14-8FD2-CEF322FBB52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BA6F36C-058F-0BD4-4890-DFD0127BD38B}"/>
              </a:ext>
            </a:extLst>
          </p:cNvPr>
          <p:cNvSpPr/>
          <p:nvPr/>
        </p:nvSpPr>
        <p:spPr>
          <a:xfrm>
            <a:off x="1431704" y="9610725"/>
            <a:ext cx="15624461" cy="0"/>
          </a:xfrm>
          <a:prstGeom prst="line">
            <a:avLst/>
          </a:prstGeom>
          <a:ln w="19050" cap="flat">
            <a:solidFill>
              <a:srgbClr val="1F1F1F"/>
            </a:solidFill>
            <a:prstDash val="solid"/>
            <a:headEnd type="none" w="sm" len="sm"/>
            <a:tailEnd type="none" w="sm" len="sm"/>
          </a:ln>
        </p:spPr>
      </p:sp>
      <p:sp>
        <p:nvSpPr>
          <p:cNvPr id="3" name="Freeform 3">
            <a:extLst>
              <a:ext uri="{FF2B5EF4-FFF2-40B4-BE49-F238E27FC236}">
                <a16:creationId xmlns:a16="http://schemas.microsoft.com/office/drawing/2014/main" id="{39ECB442-3617-C706-D429-C489EC6E5670}"/>
              </a:ext>
            </a:extLst>
          </p:cNvPr>
          <p:cNvSpPr/>
          <p:nvPr/>
        </p:nvSpPr>
        <p:spPr>
          <a:xfrm>
            <a:off x="671512" y="9387884"/>
            <a:ext cx="445682" cy="445682"/>
          </a:xfrm>
          <a:custGeom>
            <a:avLst/>
            <a:gdLst/>
            <a:ahLst/>
            <a:cxnLst/>
            <a:rect l="l" t="t" r="r" b="b"/>
            <a:pathLst>
              <a:path w="445682" h="445682">
                <a:moveTo>
                  <a:pt x="0" y="0"/>
                </a:moveTo>
                <a:lnTo>
                  <a:pt x="445683" y="0"/>
                </a:lnTo>
                <a:lnTo>
                  <a:pt x="445683" y="445682"/>
                </a:lnTo>
                <a:lnTo>
                  <a:pt x="0" y="4456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TextBox 16">
            <a:extLst>
              <a:ext uri="{FF2B5EF4-FFF2-40B4-BE49-F238E27FC236}">
                <a16:creationId xmlns:a16="http://schemas.microsoft.com/office/drawing/2014/main" id="{9E0C7D06-CC83-6AA6-FC23-6E91C40C034D}"/>
              </a:ext>
            </a:extLst>
          </p:cNvPr>
          <p:cNvSpPr txBox="1"/>
          <p:nvPr/>
        </p:nvSpPr>
        <p:spPr>
          <a:xfrm>
            <a:off x="17220939" y="9412274"/>
            <a:ext cx="288541" cy="333425"/>
          </a:xfrm>
          <a:prstGeom prst="rect">
            <a:avLst/>
          </a:prstGeom>
        </p:spPr>
        <p:txBody>
          <a:bodyPr wrap="none" lIns="0" tIns="0" rIns="0" bIns="0" rtlCol="0" anchor="t">
            <a:spAutoFit/>
          </a:bodyPr>
          <a:lstStyle/>
          <a:p>
            <a:pPr algn="r">
              <a:lnSpc>
                <a:spcPts val="2800"/>
              </a:lnSpc>
              <a:spcBef>
                <a:spcPct val="0"/>
              </a:spcBef>
            </a:pPr>
            <a:r>
              <a:rPr lang="en-US" sz="2000">
                <a:solidFill>
                  <a:srgbClr val="1F1F1F"/>
                </a:solidFill>
                <a:latin typeface="Roboto" panose="02000000000000000000" pitchFamily="2" charset="0"/>
                <a:ea typeface="Roboto" panose="02000000000000000000" pitchFamily="2" charset="0"/>
                <a:cs typeface="Roboto" panose="02000000000000000000" pitchFamily="2" charset="0"/>
                <a:sym typeface="Raleway"/>
              </a:rPr>
              <a:t>16</a:t>
            </a:r>
          </a:p>
        </p:txBody>
      </p:sp>
      <p:grpSp>
        <p:nvGrpSpPr>
          <p:cNvPr id="7" name="Group 2">
            <a:extLst>
              <a:ext uri="{FF2B5EF4-FFF2-40B4-BE49-F238E27FC236}">
                <a16:creationId xmlns:a16="http://schemas.microsoft.com/office/drawing/2014/main" id="{31D7CBA7-21F8-E227-05BB-6AA76FBDF54A}"/>
              </a:ext>
            </a:extLst>
          </p:cNvPr>
          <p:cNvGrpSpPr/>
          <p:nvPr/>
        </p:nvGrpSpPr>
        <p:grpSpPr>
          <a:xfrm>
            <a:off x="666750" y="1257300"/>
            <a:ext cx="16939989" cy="7162800"/>
            <a:chOff x="0" y="0"/>
            <a:chExt cx="2624448" cy="1109705"/>
          </a:xfrm>
        </p:grpSpPr>
        <p:sp>
          <p:nvSpPr>
            <p:cNvPr id="8" name="Freeform 3">
              <a:extLst>
                <a:ext uri="{FF2B5EF4-FFF2-40B4-BE49-F238E27FC236}">
                  <a16:creationId xmlns:a16="http://schemas.microsoft.com/office/drawing/2014/main" id="{B5CED2EE-688C-899B-1173-5463B992848C}"/>
                </a:ext>
              </a:extLst>
            </p:cNvPr>
            <p:cNvSpPr/>
            <p:nvPr/>
          </p:nvSpPr>
          <p:spPr>
            <a:xfrm>
              <a:off x="0" y="0"/>
              <a:ext cx="2624448" cy="1109705"/>
            </a:xfrm>
            <a:custGeom>
              <a:avLst/>
              <a:gdLst/>
              <a:ahLst/>
              <a:cxnLst/>
              <a:rect l="l" t="t" r="r" b="b"/>
              <a:pathLst>
                <a:path w="2624448" h="1109705">
                  <a:moveTo>
                    <a:pt x="0" y="0"/>
                  </a:moveTo>
                  <a:lnTo>
                    <a:pt x="2624448" y="0"/>
                  </a:lnTo>
                  <a:lnTo>
                    <a:pt x="2624448" y="1109705"/>
                  </a:lnTo>
                  <a:lnTo>
                    <a:pt x="0" y="1109705"/>
                  </a:lnTo>
                  <a:close/>
                </a:path>
              </a:pathLst>
            </a:custGeom>
            <a:blipFill>
              <a:blip r:embed="rId4"/>
              <a:stretch>
                <a:fillRect l="-790" r="-790"/>
              </a:stretch>
            </a:blipFill>
            <a:ln w="19050" cap="sq">
              <a:solidFill>
                <a:srgbClr val="FFFFFF"/>
              </a:solidFill>
              <a:prstDash val="solid"/>
              <a:miter/>
            </a:ln>
          </p:spPr>
        </p:sp>
      </p:grpSp>
    </p:spTree>
    <p:extLst>
      <p:ext uri="{BB962C8B-B14F-4D97-AF65-F5344CB8AC3E}">
        <p14:creationId xmlns:p14="http://schemas.microsoft.com/office/powerpoint/2010/main" val="2715721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31704" y="9610725"/>
            <a:ext cx="15624461" cy="0"/>
          </a:xfrm>
          <a:prstGeom prst="line">
            <a:avLst/>
          </a:prstGeom>
          <a:ln w="19050" cap="flat">
            <a:solidFill>
              <a:srgbClr val="1F1F1F"/>
            </a:solidFill>
            <a:prstDash val="solid"/>
            <a:headEnd type="none" w="sm" len="sm"/>
            <a:tailEnd type="none" w="sm" len="sm"/>
          </a:ln>
        </p:spPr>
      </p:sp>
      <p:sp>
        <p:nvSpPr>
          <p:cNvPr id="10" name="Freeform 10"/>
          <p:cNvSpPr/>
          <p:nvPr/>
        </p:nvSpPr>
        <p:spPr>
          <a:xfrm>
            <a:off x="671512" y="9387884"/>
            <a:ext cx="445682" cy="445682"/>
          </a:xfrm>
          <a:custGeom>
            <a:avLst/>
            <a:gdLst/>
            <a:ahLst/>
            <a:cxnLst/>
            <a:rect l="l" t="t" r="r" b="b"/>
            <a:pathLst>
              <a:path w="445682" h="445682">
                <a:moveTo>
                  <a:pt x="0" y="0"/>
                </a:moveTo>
                <a:lnTo>
                  <a:pt x="445683" y="0"/>
                </a:lnTo>
                <a:lnTo>
                  <a:pt x="445683" y="445682"/>
                </a:lnTo>
                <a:lnTo>
                  <a:pt x="0" y="4456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17367510" y="9412274"/>
            <a:ext cx="144270" cy="333425"/>
          </a:xfrm>
          <a:prstGeom prst="rect">
            <a:avLst/>
          </a:prstGeom>
        </p:spPr>
        <p:txBody>
          <a:bodyPr wrap="none" lIns="0" tIns="0" rIns="0" bIns="0" rtlCol="0" anchor="t">
            <a:spAutoFit/>
          </a:bodyPr>
          <a:lstStyle/>
          <a:p>
            <a:pPr algn="r">
              <a:lnSpc>
                <a:spcPts val="2800"/>
              </a:lnSpc>
              <a:spcBef>
                <a:spcPct val="0"/>
              </a:spcBef>
            </a:pPr>
            <a:r>
              <a:rPr lang="en-US" sz="2000">
                <a:solidFill>
                  <a:srgbClr val="1F1F1F"/>
                </a:solidFill>
                <a:latin typeface="Roboto" panose="02000000000000000000" pitchFamily="2" charset="0"/>
                <a:ea typeface="Roboto" panose="02000000000000000000" pitchFamily="2" charset="0"/>
                <a:cs typeface="Roboto" panose="02000000000000000000" pitchFamily="2" charset="0"/>
                <a:sym typeface="Raleway"/>
              </a:rPr>
              <a:t>9</a:t>
            </a:r>
          </a:p>
        </p:txBody>
      </p:sp>
      <p:sp>
        <p:nvSpPr>
          <p:cNvPr id="16" name="TextBox 2">
            <a:extLst>
              <a:ext uri="{FF2B5EF4-FFF2-40B4-BE49-F238E27FC236}">
                <a16:creationId xmlns:a16="http://schemas.microsoft.com/office/drawing/2014/main" id="{4FE3350C-0759-662A-1636-1EC011F31FFA}"/>
              </a:ext>
            </a:extLst>
          </p:cNvPr>
          <p:cNvSpPr txBox="1"/>
          <p:nvPr/>
        </p:nvSpPr>
        <p:spPr>
          <a:xfrm>
            <a:off x="666750" y="742950"/>
            <a:ext cx="16173450" cy="1182953"/>
          </a:xfrm>
          <a:prstGeom prst="rect">
            <a:avLst/>
          </a:prstGeom>
        </p:spPr>
        <p:txBody>
          <a:bodyPr wrap="square" lIns="0" tIns="0" rIns="0" bIns="0" rtlCol="0" anchor="t">
            <a:spAutoFit/>
          </a:bodyPr>
          <a:lstStyle/>
          <a:p>
            <a:pPr lvl="0">
              <a:lnSpc>
                <a:spcPts val="9900"/>
              </a:lnSpc>
            </a:pPr>
            <a:r>
              <a:rPr lang="en-US" sz="7200">
                <a:solidFill>
                  <a:srgbClr val="1F1F1F"/>
                </a:solidFill>
                <a:latin typeface="Roboto" panose="02000000000000000000" pitchFamily="2" charset="0"/>
                <a:ea typeface="Roboto" panose="02000000000000000000" pitchFamily="2" charset="0"/>
                <a:cs typeface="Roboto" panose="02000000000000000000" pitchFamily="2" charset="0"/>
                <a:sym typeface="Raleway"/>
              </a:rPr>
              <a:t>Perf Test với k6 + AI</a:t>
            </a:r>
          </a:p>
        </p:txBody>
      </p:sp>
      <p:pic>
        <p:nvPicPr>
          <p:cNvPr id="8194" name="Picture 2" descr="Results output | Grafana k6 documentation">
            <a:extLst>
              <a:ext uri="{FF2B5EF4-FFF2-40B4-BE49-F238E27FC236}">
                <a16:creationId xmlns:a16="http://schemas.microsoft.com/office/drawing/2014/main" id="{87221B2F-2A69-08D4-E60F-237484528B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0396" y="1638300"/>
            <a:ext cx="15268177" cy="94677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3A16A0F-9825-43C7-8DFB-8FBEF3A7E6A4}">
  <we:reference id="wa200008583" version="1.0.0.1" store="en-US" storeType="OMEX"/>
  <we:alternateReferences>
    <we:reference id="wa200008583" version="1.0.0.1"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1227</TotalTime>
  <Words>393</Words>
  <Application>Microsoft Office PowerPoint</Application>
  <PresentationFormat>Custom</PresentationFormat>
  <Paragraphs>52</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Roboto</vt:lpstr>
      <vt:lpstr>Wingdings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thuyết trình - Manual Testing with AI</dc:title>
  <dc:description>Bài thuyết trình - Manual Testing with AI</dc:description>
  <cp:lastModifiedBy>NC</cp:lastModifiedBy>
  <cp:revision>197</cp:revision>
  <dcterms:created xsi:type="dcterms:W3CDTF">2006-08-16T00:00:00Z</dcterms:created>
  <dcterms:modified xsi:type="dcterms:W3CDTF">2025-11-23T14:26:50Z</dcterms:modified>
  <dc:identifier>DAG5PRCMaFc</dc:identifier>
</cp:coreProperties>
</file>